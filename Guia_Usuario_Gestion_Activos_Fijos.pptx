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0"/>
  </p:notesMasterIdLst>
  <p:sldIdLst>
    <p:sldId id="273" r:id="rId5"/>
    <p:sldId id="266" r:id="rId6"/>
    <p:sldId id="262" r:id="rId7"/>
    <p:sldId id="269" r:id="rId8"/>
    <p:sldId id="265" r:id="rId9"/>
    <p:sldId id="271" r:id="rId10"/>
    <p:sldId id="275" r:id="rId11"/>
    <p:sldId id="276" r:id="rId12"/>
    <p:sldId id="277" r:id="rId13"/>
    <p:sldId id="280" r:id="rId14"/>
    <p:sldId id="278" r:id="rId15"/>
    <p:sldId id="279" r:id="rId16"/>
    <p:sldId id="268" r:id="rId17"/>
    <p:sldId id="270" r:id="rId18"/>
    <p:sldId id="258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31F34B79-A36D-4A71-BCDC-6561A521C36D}">
          <p14:sldIdLst>
            <p14:sldId id="273"/>
          </p14:sldIdLst>
        </p14:section>
        <p14:section name="Sección predeterminada" id="{C8EFEA8A-5D49-464C-899E-14541AEBFB17}">
          <p14:sldIdLst>
            <p14:sldId id="266"/>
            <p14:sldId id="262"/>
            <p14:sldId id="269"/>
            <p14:sldId id="265"/>
            <p14:sldId id="271"/>
            <p14:sldId id="275"/>
            <p14:sldId id="276"/>
            <p14:sldId id="277"/>
            <p14:sldId id="280"/>
            <p14:sldId id="278"/>
            <p14:sldId id="279"/>
            <p14:sldId id="268"/>
            <p14:sldId id="270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7F5"/>
    <a:srgbClr val="F8F7F2"/>
    <a:srgbClr val="F5F6F7"/>
    <a:srgbClr val="FCFB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5BE263C-DBD7-4A20-BB59-AAB30ACAA65A}" styleName="Estilo medio 3 - 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Estilo medio 1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2833802-FEF1-4C79-8D5D-14CF1EAF98D9}" styleName="Estilo claro 2 - Acent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E25E649-3F16-4E02-A733-19D2CDBF48F0}" styleName="Estilo medio 3 - Énfasis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0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_E MARIA ALEJANDRA RUA MONSALVE" userId="71946236-9578-453a-92ed-f801a6d4b763" providerId="ADAL" clId="{E8149EF5-2246-486F-8A15-50B033AAAE2B}"/>
    <pc:docChg chg="modSld">
      <pc:chgData name="HI_E MARIA ALEJANDRA RUA MONSALVE" userId="71946236-9578-453a-92ed-f801a6d4b763" providerId="ADAL" clId="{E8149EF5-2246-486F-8A15-50B033AAAE2B}" dt="2026-04-09T14:53:26.735" v="2" actId="1076"/>
      <pc:docMkLst>
        <pc:docMk/>
      </pc:docMkLst>
      <pc:sldChg chg="modSp mod">
        <pc:chgData name="HI_E MARIA ALEJANDRA RUA MONSALVE" userId="71946236-9578-453a-92ed-f801a6d4b763" providerId="ADAL" clId="{E8149EF5-2246-486F-8A15-50B033AAAE2B}" dt="2026-04-09T14:53:26.735" v="2" actId="1076"/>
        <pc:sldMkLst>
          <pc:docMk/>
          <pc:sldMk cId="961199210" sldId="267"/>
        </pc:sldMkLst>
        <pc:picChg chg="mod">
          <ac:chgData name="HI_E MARIA ALEJANDRA RUA MONSALVE" userId="71946236-9578-453a-92ed-f801a6d4b763" providerId="ADAL" clId="{E8149EF5-2246-486F-8A15-50B033AAAE2B}" dt="2026-04-09T14:53:26.735" v="2" actId="1076"/>
          <ac:picMkLst>
            <pc:docMk/>
            <pc:sldMk cId="961199210" sldId="267"/>
            <ac:picMk id="14" creationId="{7AB886E9-99AF-98EC-F3E8-CB6C4B16CA19}"/>
          </ac:picMkLst>
        </pc:picChg>
      </pc:sldChg>
      <pc:sldChg chg="modSp mod">
        <pc:chgData name="HI_E MARIA ALEJANDRA RUA MONSALVE" userId="71946236-9578-453a-92ed-f801a6d4b763" providerId="ADAL" clId="{E8149EF5-2246-486F-8A15-50B033AAAE2B}" dt="2026-04-09T14:53:22.991" v="1" actId="1076"/>
        <pc:sldMkLst>
          <pc:docMk/>
          <pc:sldMk cId="2619730567" sldId="268"/>
        </pc:sldMkLst>
        <pc:picChg chg="mod">
          <ac:chgData name="HI_E MARIA ALEJANDRA RUA MONSALVE" userId="71946236-9578-453a-92ed-f801a6d4b763" providerId="ADAL" clId="{E8149EF5-2246-486F-8A15-50B033AAAE2B}" dt="2026-04-09T14:53:22.991" v="1" actId="1076"/>
          <ac:picMkLst>
            <pc:docMk/>
            <pc:sldMk cId="2619730567" sldId="268"/>
            <ac:picMk id="12" creationId="{EAFE6337-5BC9-D7BA-67FE-68CB1E857D0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9EC3A0-C2C2-3A4C-ACDF-C83251AEDF6D}" type="datetimeFigureOut">
              <a:rPr lang="es-ES_tradnl" smtClean="0"/>
              <a:t>18/06/2026</a:t>
            </a:fld>
            <a:endParaRPr lang="es-ES_tradn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_tradn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DB8FC-D667-DB45-9E9A-753AE4B0050F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568123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hi-hubisa.com" TargetMode="External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Portada con f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14456" y="2804734"/>
            <a:ext cx="4996543" cy="238760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4200" baseline="0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14506" y="5202237"/>
            <a:ext cx="4993800" cy="16557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600" b="0" i="0" baseline="0">
                <a:solidFill>
                  <a:schemeClr val="accent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C83E2B3A-801F-2DA7-F128-ABD9E90AD4B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354245" y="388956"/>
            <a:ext cx="2454061" cy="1412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813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45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Portad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18450" y="549277"/>
            <a:ext cx="7955099" cy="2387600"/>
          </a:xfrm>
        </p:spPr>
        <p:txBody>
          <a:bodyPr anchor="b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21354" y="2948062"/>
            <a:ext cx="5285196" cy="16557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6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66BF091E-32C0-6FC9-E320-16051E977D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73420" y="1702490"/>
            <a:ext cx="10562897" cy="5281449"/>
          </a:xfrm>
          <a:prstGeom prst="rect">
            <a:avLst/>
          </a:prstGeom>
        </p:spPr>
      </p:pic>
      <p:pic>
        <p:nvPicPr>
          <p:cNvPr id="6" name="Gráfico 5">
            <a:extLst>
              <a:ext uri="{FF2B5EF4-FFF2-40B4-BE49-F238E27FC236}">
                <a16:creationId xmlns:a16="http://schemas.microsoft.com/office/drawing/2014/main" id="{267CBF73-354B-E3DF-4459-3D48EFD0081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354245" y="5195061"/>
            <a:ext cx="2454061" cy="1412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045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453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parador Naran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1924" y="2144714"/>
            <a:ext cx="8905114" cy="2852737"/>
          </a:xfrm>
        </p:spPr>
        <p:txBody>
          <a:bodyPr anchor="b">
            <a:normAutofit/>
          </a:bodyPr>
          <a:lstStyle>
            <a:lvl1pPr>
              <a:defRPr sz="3733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1924" y="5024438"/>
            <a:ext cx="8905114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 i="0">
                <a:solidFill>
                  <a:schemeClr val="accent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16EE9AF2-14BA-9ABF-00E0-0BE2267595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7688" t="13649"/>
          <a:stretch>
            <a:fillRect/>
          </a:stretch>
        </p:blipFill>
        <p:spPr>
          <a:xfrm>
            <a:off x="0" y="0"/>
            <a:ext cx="4572000" cy="6109168"/>
          </a:xfrm>
          <a:prstGeom prst="rect">
            <a:avLst/>
          </a:prstGeom>
        </p:spPr>
      </p:pic>
      <p:pic>
        <p:nvPicPr>
          <p:cNvPr id="5" name="Gráfico 4">
            <a:extLst>
              <a:ext uri="{FF2B5EF4-FFF2-40B4-BE49-F238E27FC236}">
                <a16:creationId xmlns:a16="http://schemas.microsoft.com/office/drawing/2014/main" id="{FD3719AD-A9CC-E284-E1D3-2936863111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156054" y="388956"/>
            <a:ext cx="1652252" cy="951006"/>
          </a:xfrm>
          <a:prstGeom prst="rect">
            <a:avLst/>
          </a:prstGeom>
        </p:spPr>
      </p:pic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B1A61A86-97D1-0295-FA64-F3B93246EC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51923" y="1339962"/>
            <a:ext cx="1620078" cy="1582142"/>
          </a:xfrm>
        </p:spPr>
        <p:txBody>
          <a:bodyPr anchor="ctr"/>
          <a:lstStyle>
            <a:lvl1pPr algn="ctr">
              <a:defRPr sz="8800">
                <a:solidFill>
                  <a:schemeClr val="bg1"/>
                </a:solidFill>
              </a:defRPr>
            </a:lvl1pPr>
          </a:lstStyle>
          <a:p>
            <a:pPr lvl="0"/>
            <a:r>
              <a:rPr lang="es-MX"/>
              <a:t>#</a:t>
            </a:r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880480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parador Naran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1924" y="2144714"/>
            <a:ext cx="8905114" cy="2852737"/>
          </a:xfrm>
        </p:spPr>
        <p:txBody>
          <a:bodyPr anchor="b">
            <a:normAutofit/>
          </a:bodyPr>
          <a:lstStyle>
            <a:lvl1pPr>
              <a:defRPr sz="3733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1924" y="5024438"/>
            <a:ext cx="8905114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 i="0">
                <a:solidFill>
                  <a:schemeClr val="accent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16EE9AF2-14BA-9ABF-00E0-0BE2267595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7688" t="13649"/>
          <a:stretch>
            <a:fillRect/>
          </a:stretch>
        </p:blipFill>
        <p:spPr>
          <a:xfrm>
            <a:off x="0" y="0"/>
            <a:ext cx="4572000" cy="6109168"/>
          </a:xfrm>
          <a:prstGeom prst="rect">
            <a:avLst/>
          </a:prstGeom>
        </p:spPr>
      </p:pic>
      <p:pic>
        <p:nvPicPr>
          <p:cNvPr id="5" name="Gráfico 4">
            <a:extLst>
              <a:ext uri="{FF2B5EF4-FFF2-40B4-BE49-F238E27FC236}">
                <a16:creationId xmlns:a16="http://schemas.microsoft.com/office/drawing/2014/main" id="{FD3719AD-A9CC-E284-E1D3-2936863111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156054" y="388956"/>
            <a:ext cx="1652252" cy="951006"/>
          </a:xfrm>
          <a:prstGeom prst="rect">
            <a:avLst/>
          </a:prstGeom>
        </p:spPr>
      </p:pic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B1A61A86-97D1-0295-FA64-F3B93246EC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51923" y="1339962"/>
            <a:ext cx="1620078" cy="1582142"/>
          </a:xfrm>
        </p:spPr>
        <p:txBody>
          <a:bodyPr anchor="ctr"/>
          <a:lstStyle>
            <a:lvl1pPr algn="ctr">
              <a:defRPr sz="8800">
                <a:solidFill>
                  <a:schemeClr val="bg1"/>
                </a:solidFill>
              </a:defRPr>
            </a:lvl1pPr>
          </a:lstStyle>
          <a:p>
            <a:pPr lvl="0"/>
            <a:r>
              <a:rPr lang="es-MX"/>
              <a:t>#</a:t>
            </a:r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810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Separador Naranj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1924" y="2144714"/>
            <a:ext cx="8905114" cy="2852737"/>
          </a:xfrm>
        </p:spPr>
        <p:txBody>
          <a:bodyPr anchor="b">
            <a:normAutofit/>
          </a:bodyPr>
          <a:lstStyle>
            <a:lvl1pPr>
              <a:defRPr sz="3733">
                <a:solidFill>
                  <a:schemeClr val="bg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1924" y="5024438"/>
            <a:ext cx="8905114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16EE9AF2-14BA-9ABF-00E0-0BE2267595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7688" t="13649"/>
          <a:stretch>
            <a:fillRect/>
          </a:stretch>
        </p:blipFill>
        <p:spPr>
          <a:xfrm>
            <a:off x="0" y="0"/>
            <a:ext cx="4572000" cy="6109168"/>
          </a:xfrm>
          <a:prstGeom prst="rect">
            <a:avLst/>
          </a:prstGeom>
        </p:spPr>
      </p:pic>
      <p:pic>
        <p:nvPicPr>
          <p:cNvPr id="5" name="Gráfico 4">
            <a:extLst>
              <a:ext uri="{FF2B5EF4-FFF2-40B4-BE49-F238E27FC236}">
                <a16:creationId xmlns:a16="http://schemas.microsoft.com/office/drawing/2014/main" id="{FD3719AD-A9CC-E284-E1D3-2936863111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156054" y="388956"/>
            <a:ext cx="1652252" cy="951005"/>
          </a:xfrm>
          <a:prstGeom prst="rect">
            <a:avLst/>
          </a:prstGeom>
        </p:spPr>
      </p:pic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B1A61A86-97D1-0295-FA64-F3B93246EC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51923" y="1339962"/>
            <a:ext cx="1620078" cy="1582142"/>
          </a:xfrm>
        </p:spPr>
        <p:txBody>
          <a:bodyPr anchor="ctr"/>
          <a:lstStyle>
            <a:lvl1pPr algn="ctr">
              <a:defRPr sz="8800">
                <a:solidFill>
                  <a:schemeClr val="bg1"/>
                </a:solidFill>
              </a:defRPr>
            </a:lvl1pPr>
          </a:lstStyle>
          <a:p>
            <a:pPr lvl="0"/>
            <a:r>
              <a:rPr lang="es-MX"/>
              <a:t>#</a:t>
            </a:r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69840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Separador Naranj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1924" y="2144714"/>
            <a:ext cx="8905114" cy="2852737"/>
          </a:xfrm>
        </p:spPr>
        <p:txBody>
          <a:bodyPr anchor="b">
            <a:normAutofit/>
          </a:bodyPr>
          <a:lstStyle>
            <a:lvl1pPr>
              <a:defRPr sz="3733">
                <a:solidFill>
                  <a:schemeClr val="bg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1924" y="5024438"/>
            <a:ext cx="8905114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16EE9AF2-14BA-9ABF-00E0-0BE2267595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7688" t="13649"/>
          <a:stretch>
            <a:fillRect/>
          </a:stretch>
        </p:blipFill>
        <p:spPr>
          <a:xfrm>
            <a:off x="0" y="0"/>
            <a:ext cx="4572000" cy="6109168"/>
          </a:xfrm>
          <a:prstGeom prst="rect">
            <a:avLst/>
          </a:prstGeom>
        </p:spPr>
      </p:pic>
      <p:pic>
        <p:nvPicPr>
          <p:cNvPr id="5" name="Gráfico 4">
            <a:extLst>
              <a:ext uri="{FF2B5EF4-FFF2-40B4-BE49-F238E27FC236}">
                <a16:creationId xmlns:a16="http://schemas.microsoft.com/office/drawing/2014/main" id="{FD3719AD-A9CC-E284-E1D3-2936863111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156054" y="388956"/>
            <a:ext cx="1652252" cy="951005"/>
          </a:xfrm>
          <a:prstGeom prst="rect">
            <a:avLst/>
          </a:prstGeom>
        </p:spPr>
      </p:pic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B1A61A86-97D1-0295-FA64-F3B93246EC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51923" y="1339962"/>
            <a:ext cx="1620078" cy="1582142"/>
          </a:xfrm>
        </p:spPr>
        <p:txBody>
          <a:bodyPr anchor="ctr"/>
          <a:lstStyle>
            <a:lvl1pPr algn="ctr">
              <a:defRPr sz="8800">
                <a:solidFill>
                  <a:schemeClr val="bg1"/>
                </a:solidFill>
              </a:defRPr>
            </a:lvl1pPr>
          </a:lstStyle>
          <a:p>
            <a:pPr lvl="0"/>
            <a:r>
              <a:rPr lang="es-MX"/>
              <a:t>#</a:t>
            </a:r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526908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rma libre 5">
            <a:extLst>
              <a:ext uri="{FF2B5EF4-FFF2-40B4-BE49-F238E27FC236}">
                <a16:creationId xmlns:a16="http://schemas.microsoft.com/office/drawing/2014/main" id="{B2D76C58-093E-9590-B915-A01DA4156A9D}"/>
              </a:ext>
            </a:extLst>
          </p:cNvPr>
          <p:cNvSpPr/>
          <p:nvPr userDrawn="1"/>
        </p:nvSpPr>
        <p:spPr>
          <a:xfrm>
            <a:off x="1" y="0"/>
            <a:ext cx="4017555" cy="6858000"/>
          </a:xfrm>
          <a:custGeom>
            <a:avLst/>
            <a:gdLst>
              <a:gd name="csX0" fmla="*/ 0 w 4017555"/>
              <a:gd name="csY0" fmla="*/ 0 h 6858000"/>
              <a:gd name="csX1" fmla="*/ 2266047 w 4017555"/>
              <a:gd name="csY1" fmla="*/ 0 h 6858000"/>
              <a:gd name="csX2" fmla="*/ 2316797 w 4017555"/>
              <a:gd name="csY2" fmla="*/ 36089 h 6858000"/>
              <a:gd name="csX3" fmla="*/ 4017555 w 4017555"/>
              <a:gd name="csY3" fmla="*/ 3428999 h 6858000"/>
              <a:gd name="csX4" fmla="*/ 2316797 w 4017555"/>
              <a:gd name="csY4" fmla="*/ 6821909 h 6858000"/>
              <a:gd name="csX5" fmla="*/ 2266044 w 4017555"/>
              <a:gd name="csY5" fmla="*/ 6858000 h 6858000"/>
              <a:gd name="csX6" fmla="*/ 0 w 4017555"/>
              <a:gd name="csY6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17555" h="6858000">
                <a:moveTo>
                  <a:pt x="0" y="0"/>
                </a:moveTo>
                <a:lnTo>
                  <a:pt x="2266047" y="0"/>
                </a:lnTo>
                <a:lnTo>
                  <a:pt x="2316797" y="36089"/>
                </a:lnTo>
                <a:cubicBezTo>
                  <a:pt x="3349262" y="808223"/>
                  <a:pt x="4017555" y="2040567"/>
                  <a:pt x="4017555" y="3428999"/>
                </a:cubicBezTo>
                <a:cubicBezTo>
                  <a:pt x="4017555" y="4817431"/>
                  <a:pt x="3349262" y="6049775"/>
                  <a:pt x="2316797" y="6821909"/>
                </a:cubicBezTo>
                <a:lnTo>
                  <a:pt x="2266044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ES_tradnl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3828" y="2766217"/>
            <a:ext cx="3306812" cy="1325563"/>
          </a:xfrm>
        </p:spPr>
        <p:txBody>
          <a:bodyPr anchor="ctr" anchorCtr="0">
            <a:noAutofit/>
          </a:bodyPr>
          <a:lstStyle>
            <a:lvl1pPr algn="ctr">
              <a:defRPr sz="6400">
                <a:solidFill>
                  <a:schemeClr val="bg1"/>
                </a:solidFill>
              </a:defRPr>
            </a:lvl1pPr>
          </a:lstStyle>
          <a:p>
            <a:r>
              <a:rPr lang="es-MX"/>
              <a:t>Agenda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-1"/>
            <a:ext cx="7146172" cy="6858001"/>
          </a:xfrm>
          <a:prstGeom prst="rect">
            <a:avLst/>
          </a:prstGeom>
          <a:ln>
            <a:noFill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45329"/>
                      <a:gd name="connsiteY0" fmla="*/ 0 h 1073114"/>
                      <a:gd name="connsiteX1" fmla="*/ 5245329 w 5245329"/>
                      <a:gd name="connsiteY1" fmla="*/ 0 h 1073114"/>
                      <a:gd name="connsiteX2" fmla="*/ 5245329 w 5245329"/>
                      <a:gd name="connsiteY2" fmla="*/ 1073114 h 1073114"/>
                      <a:gd name="connsiteX3" fmla="*/ 0 w 5245329"/>
                      <a:gd name="connsiteY3" fmla="*/ 1073114 h 1073114"/>
                      <a:gd name="connsiteX4" fmla="*/ 0 w 5245329"/>
                      <a:gd name="connsiteY4" fmla="*/ 0 h 10731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245329" h="1073114" fill="none" extrusionOk="0">
                        <a:moveTo>
                          <a:pt x="0" y="0"/>
                        </a:moveTo>
                        <a:cubicBezTo>
                          <a:pt x="800052" y="-49533"/>
                          <a:pt x="4707642" y="-14809"/>
                          <a:pt x="5245329" y="0"/>
                        </a:cubicBezTo>
                        <a:cubicBezTo>
                          <a:pt x="5231146" y="327811"/>
                          <a:pt x="5329902" y="617055"/>
                          <a:pt x="5245329" y="1073114"/>
                        </a:cubicBezTo>
                        <a:cubicBezTo>
                          <a:pt x="2824237" y="1024883"/>
                          <a:pt x="2491083" y="1157569"/>
                          <a:pt x="0" y="1073114"/>
                        </a:cubicBezTo>
                        <a:cubicBezTo>
                          <a:pt x="52018" y="942568"/>
                          <a:pt x="-45181" y="239154"/>
                          <a:pt x="0" y="0"/>
                        </a:cubicBezTo>
                        <a:close/>
                      </a:path>
                      <a:path w="5245329" h="1073114" stroke="0" extrusionOk="0">
                        <a:moveTo>
                          <a:pt x="0" y="0"/>
                        </a:moveTo>
                        <a:cubicBezTo>
                          <a:pt x="897155" y="118645"/>
                          <a:pt x="4406501" y="116012"/>
                          <a:pt x="5245329" y="0"/>
                        </a:cubicBezTo>
                        <a:cubicBezTo>
                          <a:pt x="5248859" y="500939"/>
                          <a:pt x="5183723" y="937450"/>
                          <a:pt x="5245329" y="1073114"/>
                        </a:cubicBezTo>
                        <a:cubicBezTo>
                          <a:pt x="3005708" y="1207714"/>
                          <a:pt x="2440790" y="915918"/>
                          <a:pt x="0" y="1073114"/>
                        </a:cubicBezTo>
                        <a:cubicBezTo>
                          <a:pt x="-30596" y="683432"/>
                          <a:pt x="41271" y="33638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anchor="ctr" anchorCtr="0">
            <a:noAutofit/>
          </a:bodyPr>
          <a:lstStyle>
            <a:lvl1pPr marL="656150" indent="-656150">
              <a:spcAft>
                <a:spcPts val="1000"/>
              </a:spcAft>
              <a:buSzPct val="200000"/>
              <a:buFont typeface="+mj-lt"/>
              <a:buAutoNum type="arabicPeriod"/>
              <a:tabLst/>
              <a:defRPr sz="2400" b="1">
                <a:solidFill>
                  <a:schemeClr val="accent1"/>
                </a:solidFill>
              </a:defRPr>
            </a:lvl1pPr>
            <a:lvl2pPr marL="891095" indent="-179913"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/>
            </a:lvl2pPr>
            <a:lvl3pPr marL="891095" indent="-179913"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/>
            </a:lvl3pPr>
            <a:lvl4pPr marL="891095" indent="-179913"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/>
            </a:lvl4pPr>
            <a:lvl5pPr marL="891095" indent="-179913"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1328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FA2E63D-F692-BABD-72C3-D2A0B47410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791200" y="6524626"/>
            <a:ext cx="609600" cy="333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F6EB29E3-579C-284A-BB93-B47AD62E130B}" type="slidenum">
              <a:rPr lang="es-ES_tradnl" smtClean="0"/>
              <a:pPr/>
              <a:t>‹Nº›</a:t>
            </a:fld>
            <a:endParaRPr lang="es-ES_tradnl" sz="100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523091B-74E0-2640-1CD9-F0B61B000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4" y="1"/>
            <a:ext cx="10280998" cy="1412874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BFD4465-0E16-EEDC-CC76-027BBEF6E5A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34964" y="1628775"/>
            <a:ext cx="11522074" cy="489585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42336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2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4964" y="1628775"/>
            <a:ext cx="5616000" cy="48958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1036" y="1628775"/>
            <a:ext cx="5616000" cy="48958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28172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1593" y="1648505"/>
            <a:ext cx="5616000" cy="683136"/>
          </a:xfrm>
          <a:prstGeom prst="rect">
            <a:avLst/>
          </a:prstGeom>
        </p:spPr>
        <p:txBody>
          <a:bodyPr anchor="b">
            <a:spAutoFit/>
          </a:bodyPr>
          <a:lstStyle>
            <a:lvl1pPr marL="0" indent="0">
              <a:buNone/>
              <a:defRPr sz="2133" b="1">
                <a:solidFill>
                  <a:schemeClr val="accent2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1593" y="2512758"/>
            <a:ext cx="5616000" cy="401954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0430" y="1648505"/>
            <a:ext cx="5616000" cy="683136"/>
          </a:xfrm>
          <a:prstGeom prst="rect">
            <a:avLst/>
          </a:prstGeom>
        </p:spPr>
        <p:txBody>
          <a:bodyPr anchor="b">
            <a:spAutoFit/>
          </a:bodyPr>
          <a:lstStyle>
            <a:lvl1pPr marL="0" indent="0">
              <a:buNone/>
              <a:defRPr sz="2133" b="1">
                <a:solidFill>
                  <a:schemeClr val="accent2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41038" y="2505075"/>
            <a:ext cx="5616000" cy="401954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t>‹Nº›</a:t>
            </a:fld>
            <a:endParaRPr lang="es-ES_trad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D79F5F-9B4B-BFC2-5DE3-72FF2E90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4" y="1"/>
            <a:ext cx="10280998" cy="1412874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47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3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26D184B9-6BD0-7061-61A3-6FBE955DCE6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5645" y="1628775"/>
            <a:ext cx="3598639" cy="4885200"/>
          </a:xfrm>
          <a:prstGeom prst="roundRect">
            <a:avLst>
              <a:gd name="adj" fmla="val 4995"/>
            </a:avLst>
          </a:prstGeom>
          <a:solidFill>
            <a:schemeClr val="bg1"/>
          </a:solidFill>
        </p:spPr>
        <p:txBody>
          <a:bodyPr tIns="2520000" bIns="46800"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t>‹Nº›</a:t>
            </a:fld>
            <a:endParaRPr lang="es-ES_trad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9884A7-4942-64A9-7345-E4DC2EC92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4" y="1"/>
            <a:ext cx="10280998" cy="1412874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17" name="Marcador de contenido 16">
            <a:extLst>
              <a:ext uri="{FF2B5EF4-FFF2-40B4-BE49-F238E27FC236}">
                <a16:creationId xmlns:a16="http://schemas.microsoft.com/office/drawing/2014/main" id="{6FE49EB2-2A8C-7662-BAC7-E2F419724876}"/>
              </a:ext>
            </a:extLst>
          </p:cNvPr>
          <p:cNvSpPr>
            <a:spLocks noGrp="1" noChangeAspect="1"/>
          </p:cNvSpPr>
          <p:nvPr>
            <p:ph sz="quarter" idx="15"/>
          </p:nvPr>
        </p:nvSpPr>
        <p:spPr>
          <a:xfrm>
            <a:off x="334964" y="1628775"/>
            <a:ext cx="3600000" cy="2397600"/>
          </a:xfrm>
          <a:prstGeom prst="round2SameRect">
            <a:avLst>
              <a:gd name="adj1" fmla="val 6044"/>
              <a:gd name="adj2" fmla="val 0"/>
            </a:avLst>
          </a:prstGeom>
          <a:solidFill>
            <a:schemeClr val="bg2"/>
          </a:solidFill>
        </p:spPr>
        <p:txBody>
          <a:bodyPr wrap="none" lIns="0" tIns="0" rIns="0" bIns="0" anchor="t" anchorCtr="0"/>
          <a:lstStyle/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8" name="Marcador de texto 7">
            <a:extLst>
              <a:ext uri="{FF2B5EF4-FFF2-40B4-BE49-F238E27FC236}">
                <a16:creationId xmlns:a16="http://schemas.microsoft.com/office/drawing/2014/main" id="{5B178821-7311-A663-9934-A6BFC923C81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96680" y="1639425"/>
            <a:ext cx="3598639" cy="4885200"/>
          </a:xfrm>
          <a:prstGeom prst="roundRect">
            <a:avLst>
              <a:gd name="adj" fmla="val 4995"/>
            </a:avLst>
          </a:prstGeom>
          <a:solidFill>
            <a:schemeClr val="bg1"/>
          </a:solidFill>
        </p:spPr>
        <p:txBody>
          <a:bodyPr tIns="2520000" bIns="46800"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19" name="Marcador de contenido 16">
            <a:extLst>
              <a:ext uri="{FF2B5EF4-FFF2-40B4-BE49-F238E27FC236}">
                <a16:creationId xmlns:a16="http://schemas.microsoft.com/office/drawing/2014/main" id="{EE74E760-2702-FAF4-B76C-10FDE7E5733A}"/>
              </a:ext>
            </a:extLst>
          </p:cNvPr>
          <p:cNvSpPr>
            <a:spLocks noGrp="1" noChangeAspect="1"/>
          </p:cNvSpPr>
          <p:nvPr>
            <p:ph sz="quarter" idx="17"/>
          </p:nvPr>
        </p:nvSpPr>
        <p:spPr>
          <a:xfrm>
            <a:off x="4295999" y="1639425"/>
            <a:ext cx="3600000" cy="2397600"/>
          </a:xfrm>
          <a:prstGeom prst="round2SameRect">
            <a:avLst>
              <a:gd name="adj1" fmla="val 6044"/>
              <a:gd name="adj2" fmla="val 0"/>
            </a:avLst>
          </a:prstGeom>
          <a:solidFill>
            <a:schemeClr val="bg2"/>
          </a:solidFill>
        </p:spPr>
        <p:txBody>
          <a:bodyPr wrap="none" lIns="0" tIns="0" rIns="0" bIns="0" anchor="t" anchorCtr="0"/>
          <a:lstStyle/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Marcador de texto 7">
            <a:extLst>
              <a:ext uri="{FF2B5EF4-FFF2-40B4-BE49-F238E27FC236}">
                <a16:creationId xmlns:a16="http://schemas.microsoft.com/office/drawing/2014/main" id="{FBA1C637-B736-6024-555C-3526A121854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257034" y="1639425"/>
            <a:ext cx="3598639" cy="4885200"/>
          </a:xfrm>
          <a:prstGeom prst="roundRect">
            <a:avLst>
              <a:gd name="adj" fmla="val 4995"/>
            </a:avLst>
          </a:prstGeom>
          <a:solidFill>
            <a:schemeClr val="bg1"/>
          </a:solidFill>
        </p:spPr>
        <p:txBody>
          <a:bodyPr tIns="2520000" bIns="46800"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21" name="Marcador de contenido 16">
            <a:extLst>
              <a:ext uri="{FF2B5EF4-FFF2-40B4-BE49-F238E27FC236}">
                <a16:creationId xmlns:a16="http://schemas.microsoft.com/office/drawing/2014/main" id="{D0FF98D1-DA6A-078D-59DD-2EFA8684EEB9}"/>
              </a:ext>
            </a:extLst>
          </p:cNvPr>
          <p:cNvSpPr>
            <a:spLocks noGrp="1" noChangeAspect="1"/>
          </p:cNvSpPr>
          <p:nvPr>
            <p:ph sz="quarter" idx="19"/>
          </p:nvPr>
        </p:nvSpPr>
        <p:spPr>
          <a:xfrm>
            <a:off x="8256353" y="1639425"/>
            <a:ext cx="3600000" cy="2397600"/>
          </a:xfrm>
          <a:prstGeom prst="round2SameRect">
            <a:avLst>
              <a:gd name="adj1" fmla="val 6044"/>
              <a:gd name="adj2" fmla="val 0"/>
            </a:avLst>
          </a:prstGeom>
          <a:solidFill>
            <a:schemeClr val="bg2"/>
          </a:solidFill>
        </p:spPr>
        <p:txBody>
          <a:bodyPr wrap="none" lIns="0" tIns="0" rIns="0" bIns="0" anchor="t" anchorCtr="0"/>
          <a:lstStyle/>
          <a:p>
            <a:pPr lvl="0"/>
            <a:r>
              <a:rPr lang="es-ES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674862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+ Título y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37922" y="2791653"/>
            <a:ext cx="6619116" cy="36290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t>‹Nº›</a:t>
            </a:fld>
            <a:endParaRPr lang="es-ES_tradnl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F82543-22AD-D195-3A86-391C7ACDB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7922" y="1162879"/>
            <a:ext cx="5378040" cy="1412874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17AF3A8F-FF8F-9713-2FC2-E0D5C1EE1E5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07627" cy="6858000"/>
          </a:xfrm>
          <a:custGeom>
            <a:avLst/>
            <a:gdLst>
              <a:gd name="csX0" fmla="*/ 0 w 4607627"/>
              <a:gd name="csY0" fmla="*/ 0 h 6858000"/>
              <a:gd name="csX1" fmla="*/ 3399083 w 4607627"/>
              <a:gd name="csY1" fmla="*/ 0 h 6858000"/>
              <a:gd name="csX2" fmla="*/ 3509503 w 4607627"/>
              <a:gd name="csY2" fmla="*/ 138372 h 6858000"/>
              <a:gd name="csX3" fmla="*/ 4607627 w 4607627"/>
              <a:gd name="csY3" fmla="*/ 3428999 h 6858000"/>
              <a:gd name="csX4" fmla="*/ 3509503 w 4607627"/>
              <a:gd name="csY4" fmla="*/ 6719626 h 6858000"/>
              <a:gd name="csX5" fmla="*/ 3399080 w 4607627"/>
              <a:gd name="csY5" fmla="*/ 6858000 h 6858000"/>
              <a:gd name="csX6" fmla="*/ 0 w 4607627"/>
              <a:gd name="csY6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607627" h="6858000">
                <a:moveTo>
                  <a:pt x="0" y="0"/>
                </a:moveTo>
                <a:lnTo>
                  <a:pt x="3399083" y="0"/>
                </a:lnTo>
                <a:lnTo>
                  <a:pt x="3509503" y="138372"/>
                </a:lnTo>
                <a:cubicBezTo>
                  <a:pt x="4198968" y="1054564"/>
                  <a:pt x="4607627" y="2194058"/>
                  <a:pt x="4607627" y="3428999"/>
                </a:cubicBezTo>
                <a:cubicBezTo>
                  <a:pt x="4607627" y="4663940"/>
                  <a:pt x="4198968" y="5803434"/>
                  <a:pt x="3509503" y="6719626"/>
                </a:cubicBezTo>
                <a:lnTo>
                  <a:pt x="339908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r>
              <a:rPr lang="es-ES"/>
              <a:t>Haga clic en el icono para agregar una imagen</a:t>
            </a:r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48422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rma libre 5">
            <a:extLst>
              <a:ext uri="{FF2B5EF4-FFF2-40B4-BE49-F238E27FC236}">
                <a16:creationId xmlns:a16="http://schemas.microsoft.com/office/drawing/2014/main" id="{8CDAD96E-A89C-3444-AB71-DDA0E28223AD}"/>
              </a:ext>
            </a:extLst>
          </p:cNvPr>
          <p:cNvSpPr/>
          <p:nvPr userDrawn="1"/>
        </p:nvSpPr>
        <p:spPr>
          <a:xfrm>
            <a:off x="1" y="0"/>
            <a:ext cx="4017555" cy="6858000"/>
          </a:xfrm>
          <a:custGeom>
            <a:avLst/>
            <a:gdLst>
              <a:gd name="csX0" fmla="*/ 0 w 4017555"/>
              <a:gd name="csY0" fmla="*/ 0 h 6858000"/>
              <a:gd name="csX1" fmla="*/ 2266047 w 4017555"/>
              <a:gd name="csY1" fmla="*/ 0 h 6858000"/>
              <a:gd name="csX2" fmla="*/ 2316797 w 4017555"/>
              <a:gd name="csY2" fmla="*/ 36089 h 6858000"/>
              <a:gd name="csX3" fmla="*/ 4017555 w 4017555"/>
              <a:gd name="csY3" fmla="*/ 3428999 h 6858000"/>
              <a:gd name="csX4" fmla="*/ 2316797 w 4017555"/>
              <a:gd name="csY4" fmla="*/ 6821909 h 6858000"/>
              <a:gd name="csX5" fmla="*/ 2266044 w 4017555"/>
              <a:gd name="csY5" fmla="*/ 6858000 h 6858000"/>
              <a:gd name="csX6" fmla="*/ 0 w 4017555"/>
              <a:gd name="csY6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17555" h="6858000">
                <a:moveTo>
                  <a:pt x="0" y="0"/>
                </a:moveTo>
                <a:lnTo>
                  <a:pt x="2266047" y="0"/>
                </a:lnTo>
                <a:lnTo>
                  <a:pt x="2316797" y="36089"/>
                </a:lnTo>
                <a:cubicBezTo>
                  <a:pt x="3349262" y="808223"/>
                  <a:pt x="4017555" y="2040567"/>
                  <a:pt x="4017555" y="3428999"/>
                </a:cubicBezTo>
                <a:cubicBezTo>
                  <a:pt x="4017555" y="4817431"/>
                  <a:pt x="3349262" y="6049775"/>
                  <a:pt x="2316797" y="6821909"/>
                </a:cubicBezTo>
                <a:lnTo>
                  <a:pt x="2266044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ES_tradn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828" y="1443318"/>
            <a:ext cx="3121019" cy="1985681"/>
          </a:xfrm>
        </p:spPr>
        <p:txBody>
          <a:bodyPr anchor="b"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24400" y="1443317"/>
            <a:ext cx="6993771" cy="4504108"/>
          </a:xfrm>
          <a:prstGeom prst="rect">
            <a:avLst/>
          </a:prstGeom>
        </p:spPr>
        <p:txBody>
          <a:bodyPr/>
          <a:lstStyle>
            <a:lvl1pPr marL="228594" indent="-228594" algn="l" defTabSz="914377" rtl="0" eaLnBrk="1" latinLnBrk="0" hangingPunct="1">
              <a:lnSpc>
                <a:spcPct val="90000"/>
              </a:lnSpc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lang="es-MX" sz="1400" b="0" i="0" kern="1200" dirty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lang="es-MX" sz="1400" b="0" i="0" kern="1200" dirty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lang="es-MX" sz="1400" b="0" i="0" kern="1200" dirty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lang="es-MX" sz="1400" b="0" i="0" kern="1200" dirty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lang="en-US" sz="1400" b="0" i="0" kern="1200" dirty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3828" y="3428999"/>
            <a:ext cx="3121019" cy="251842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72990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+ Imagen abaj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24408" y="1628775"/>
            <a:ext cx="5632629" cy="216439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t>‹Nº›</a:t>
            </a:fld>
            <a:endParaRPr lang="es-ES_tradnl"/>
          </a:p>
        </p:txBody>
      </p:sp>
      <p:sp>
        <p:nvSpPr>
          <p:cNvPr id="16" name="Marcador de posición de imagen 15">
            <a:extLst>
              <a:ext uri="{FF2B5EF4-FFF2-40B4-BE49-F238E27FC236}">
                <a16:creationId xmlns:a16="http://schemas.microsoft.com/office/drawing/2014/main" id="{3C7D5252-20FE-8F55-7E6F-F81EB843DB7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" y="3793167"/>
            <a:ext cx="12191999" cy="3046587"/>
          </a:xfrm>
          <a:custGeom>
            <a:avLst/>
            <a:gdLst>
              <a:gd name="csX0" fmla="*/ 6095999 w 12191999"/>
              <a:gd name="csY0" fmla="*/ 0 h 3046587"/>
              <a:gd name="csX1" fmla="*/ 12004850 w 12191999"/>
              <a:gd name="csY1" fmla="*/ 818798 h 3046587"/>
              <a:gd name="csX2" fmla="*/ 12191999 w 12191999"/>
              <a:gd name="csY2" fmla="*/ 874469 h 3046587"/>
              <a:gd name="csX3" fmla="*/ 12191999 w 12191999"/>
              <a:gd name="csY3" fmla="*/ 3046587 h 3046587"/>
              <a:gd name="csX4" fmla="*/ 0 w 12191999"/>
              <a:gd name="csY4" fmla="*/ 3046587 h 3046587"/>
              <a:gd name="csX5" fmla="*/ 0 w 12191999"/>
              <a:gd name="csY5" fmla="*/ 874469 h 3046587"/>
              <a:gd name="csX6" fmla="*/ 187148 w 12191999"/>
              <a:gd name="csY6" fmla="*/ 818798 h 3046587"/>
              <a:gd name="csX7" fmla="*/ 6095999 w 12191999"/>
              <a:gd name="csY7" fmla="*/ 0 h 30465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1999" h="3046587">
                <a:moveTo>
                  <a:pt x="6095999" y="0"/>
                </a:moveTo>
                <a:cubicBezTo>
                  <a:pt x="8144826" y="0"/>
                  <a:pt x="10126978" y="285468"/>
                  <a:pt x="12004850" y="818798"/>
                </a:cubicBezTo>
                <a:lnTo>
                  <a:pt x="12191999" y="874469"/>
                </a:lnTo>
                <a:lnTo>
                  <a:pt x="12191999" y="3046587"/>
                </a:lnTo>
                <a:lnTo>
                  <a:pt x="0" y="3046587"/>
                </a:lnTo>
                <a:lnTo>
                  <a:pt x="0" y="874469"/>
                </a:lnTo>
                <a:lnTo>
                  <a:pt x="187148" y="818798"/>
                </a:lnTo>
                <a:cubicBezTo>
                  <a:pt x="2065021" y="285468"/>
                  <a:pt x="4047173" y="0"/>
                  <a:pt x="609599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r>
              <a:rPr lang="es-ES"/>
              <a:t>Haga clic en el icono para agregar una imagen</a:t>
            </a:r>
            <a:endParaRPr lang="es-ES_tradnl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7CD97892-CF2C-5224-474E-ED40EAD1DC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593" y="1648505"/>
            <a:ext cx="5616000" cy="683136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buNone/>
              <a:defRPr sz="2133" b="1">
                <a:solidFill>
                  <a:schemeClr val="accent2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68302BA-DEA8-B2C3-49E1-99F18BE7C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4" y="1"/>
            <a:ext cx="10280998" cy="1412874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997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964" y="457200"/>
            <a:ext cx="4437062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628775"/>
            <a:ext cx="6673850" cy="4895850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34964" y="2057400"/>
            <a:ext cx="4437062" cy="44672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64896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97444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47910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ac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411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er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0316448B-D617-FD57-82F4-4D7C2005CB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9535" t="42365" r="2979" b="15463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459EDD2E-49BC-B3F1-74D7-0F5030744CDE}"/>
              </a:ext>
            </a:extLst>
          </p:cNvPr>
          <p:cNvSpPr txBox="1"/>
          <p:nvPr/>
        </p:nvSpPr>
        <p:spPr>
          <a:xfrm>
            <a:off x="9369562" y="5046406"/>
            <a:ext cx="248747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>
                <a:solidFill>
                  <a:schemeClr val="bg1"/>
                </a:solidFill>
              </a:rPr>
              <a:t>HUB DIGITAL DE SERVICIOS ISA S.A.S.</a:t>
            </a:r>
          </a:p>
          <a:p>
            <a:r>
              <a:rPr lang="es-ES_tradnl" sz="1200">
                <a:solidFill>
                  <a:schemeClr val="bg1"/>
                </a:solidFill>
              </a:rPr>
              <a:t>NIT: 901984545-2</a:t>
            </a:r>
          </a:p>
          <a:p>
            <a:r>
              <a:rPr lang="es-ES_tradnl" sz="1200">
                <a:solidFill>
                  <a:schemeClr val="bg1"/>
                </a:solidFill>
              </a:rPr>
              <a:t>Calle 12 Sur # 18 - 168</a:t>
            </a:r>
          </a:p>
          <a:p>
            <a:r>
              <a:rPr lang="es-ES_tradnl" sz="1200">
                <a:solidFill>
                  <a:schemeClr val="bg1"/>
                </a:solidFill>
              </a:rPr>
              <a:t>Medellín, Colombia</a:t>
            </a:r>
          </a:p>
          <a:p>
            <a:endParaRPr lang="es-ES_tradnl" sz="1200">
              <a:solidFill>
                <a:schemeClr val="bg1"/>
              </a:solidFill>
            </a:endParaRPr>
          </a:p>
          <a:p>
            <a:r>
              <a:rPr lang="es-ES_tradnl" sz="1200">
                <a:solidFill>
                  <a:schemeClr val="bg1"/>
                </a:solidFill>
              </a:rPr>
              <a:t>+57 (604) 325 2400 </a:t>
            </a:r>
          </a:p>
          <a:p>
            <a:endParaRPr lang="es-ES_tradnl" sz="1200">
              <a:solidFill>
                <a:schemeClr val="bg1"/>
              </a:solidFill>
            </a:endParaRPr>
          </a:p>
          <a:p>
            <a:r>
              <a:rPr lang="es-ES_tradnl" sz="1200" err="1">
                <a:solidFill>
                  <a:schemeClr val="bg1"/>
                </a:solidFill>
                <a:hlinkClick r:id="rId3"/>
              </a:rPr>
              <a:t>info@hi-hubisa.com</a:t>
            </a:r>
            <a:endParaRPr lang="es-ES_tradnl" sz="1200">
              <a:solidFill>
                <a:schemeClr val="bg1"/>
              </a:solidFill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374BFE6-928A-9C61-C67E-B13D2C4CD58D}"/>
              </a:ext>
            </a:extLst>
          </p:cNvPr>
          <p:cNvSpPr txBox="1"/>
          <p:nvPr userDrawn="1"/>
        </p:nvSpPr>
        <p:spPr>
          <a:xfrm>
            <a:off x="1497378" y="914400"/>
            <a:ext cx="63893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8000" b="0">
                <a:solidFill>
                  <a:schemeClr val="accent2"/>
                </a:solidFill>
                <a:latin typeface="+mj-lt"/>
              </a:rPr>
              <a:t>Gracias</a:t>
            </a:r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BC6768DB-A792-31AF-4178-DA819DA9582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228409" y="3382995"/>
            <a:ext cx="2454061" cy="1412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272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453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sv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dondear rectángulo de esquina del mismo lado 19">
            <a:extLst>
              <a:ext uri="{FF2B5EF4-FFF2-40B4-BE49-F238E27FC236}">
                <a16:creationId xmlns:a16="http://schemas.microsoft.com/office/drawing/2014/main" id="{8F18A0FC-9939-75F2-5660-D3DF0AF327CA}"/>
              </a:ext>
            </a:extLst>
          </p:cNvPr>
          <p:cNvSpPr/>
          <p:nvPr userDrawn="1"/>
        </p:nvSpPr>
        <p:spPr>
          <a:xfrm rot="10800000">
            <a:off x="10767248" y="0"/>
            <a:ext cx="1089790" cy="125133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4964" y="1"/>
            <a:ext cx="10280998" cy="14128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964" y="1628775"/>
            <a:ext cx="11522074" cy="48958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791200" y="6524624"/>
            <a:ext cx="609600" cy="3333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F6EB29E3-579C-284A-BB93-B47AD62E130B}" type="slidenum">
              <a:rPr lang="es-ES_tradnl" smtClean="0"/>
              <a:pPr/>
              <a:t>‹Nº›</a:t>
            </a:fld>
            <a:endParaRPr lang="es-ES_tradnl" sz="100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51488C45-61CE-83D2-4563-F6CEC38B2C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>
          <a:xfrm>
            <a:off x="10836680" y="372302"/>
            <a:ext cx="950926" cy="547335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852858B3-CBAC-989C-EA3D-547BAF402419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581140"/>
            <a:ext cx="1557338" cy="2133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ES" sz="14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Información Interna</a:t>
            </a:r>
          </a:p>
        </p:txBody>
      </p:sp>
    </p:spTree>
    <p:extLst>
      <p:ext uri="{BB962C8B-B14F-4D97-AF65-F5344CB8AC3E}">
        <p14:creationId xmlns:p14="http://schemas.microsoft.com/office/powerpoint/2010/main" val="35453358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1" r:id="rId2"/>
    <p:sldLayoutId id="2147483664" r:id="rId3"/>
    <p:sldLayoutId id="2147483681" r:id="rId4"/>
    <p:sldLayoutId id="2147483682" r:id="rId5"/>
    <p:sldLayoutId id="2147483683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5" r:id="rId14"/>
    <p:sldLayoutId id="2147483676" r:id="rId15"/>
    <p:sldLayoutId id="2147483672" r:id="rId16"/>
    <p:sldLayoutId id="2147483677" r:id="rId17"/>
    <p:sldLayoutId id="2147483678" r:id="rId18"/>
    <p:sldLayoutId id="2147483680" r:id="rId19"/>
  </p:sldLayoutIdLst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  <p:hf hdr="0" ftr="0" dt="0"/>
  <p:txStyles>
    <p:titleStyle>
      <a:lvl1pPr algn="l" defTabSz="914377" rtl="0" eaLnBrk="1" latinLnBrk="0" hangingPunct="1">
        <a:lnSpc>
          <a:spcPct val="85000"/>
        </a:lnSpc>
        <a:spcBef>
          <a:spcPct val="0"/>
        </a:spcBef>
        <a:buNone/>
        <a:defRPr sz="3600" b="1" kern="1200" spc="-10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90000"/>
        </a:lnSpc>
        <a:spcBef>
          <a:spcPts val="1000"/>
        </a:spcBef>
        <a:spcAft>
          <a:spcPts val="400"/>
        </a:spcAft>
        <a:buClr>
          <a:schemeClr val="accent2"/>
        </a:buClr>
        <a:buFont typeface="+mj-lt"/>
        <a:buNone/>
        <a:defRPr sz="1400" b="0" i="0" kern="1200" spc="-50" baseline="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457189" indent="0" algn="l" defTabSz="914377" rtl="0" eaLnBrk="1" latinLnBrk="0" hangingPunct="1">
        <a:lnSpc>
          <a:spcPct val="90000"/>
        </a:lnSpc>
        <a:spcBef>
          <a:spcPts val="500"/>
        </a:spcBef>
        <a:spcAft>
          <a:spcPts val="400"/>
        </a:spcAft>
        <a:buClr>
          <a:schemeClr val="accent2"/>
        </a:buClr>
        <a:buFont typeface="+mj-lt"/>
        <a:buNone/>
        <a:defRPr sz="1400" b="0" i="0" kern="1200" spc="-50" baseline="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914377" indent="0" algn="l" defTabSz="914377" rtl="0" eaLnBrk="1" latinLnBrk="0" hangingPunct="1">
        <a:lnSpc>
          <a:spcPct val="90000"/>
        </a:lnSpc>
        <a:spcBef>
          <a:spcPts val="500"/>
        </a:spcBef>
        <a:spcAft>
          <a:spcPts val="400"/>
        </a:spcAft>
        <a:buClr>
          <a:schemeClr val="accent2"/>
        </a:buClr>
        <a:buFont typeface="+mj-lt"/>
        <a:buNone/>
        <a:defRPr sz="1400" b="0" i="0" kern="1200" spc="-50" baseline="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371566" indent="0" algn="l" defTabSz="914377" rtl="0" eaLnBrk="1" latinLnBrk="0" hangingPunct="1">
        <a:lnSpc>
          <a:spcPct val="90000"/>
        </a:lnSpc>
        <a:spcBef>
          <a:spcPts val="500"/>
        </a:spcBef>
        <a:spcAft>
          <a:spcPts val="400"/>
        </a:spcAft>
        <a:buClr>
          <a:schemeClr val="accent2"/>
        </a:buClr>
        <a:buFont typeface="+mj-lt"/>
        <a:buNone/>
        <a:defRPr sz="1400" b="0" i="0" kern="1200" spc="-50" baseline="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828755" indent="0" algn="l" defTabSz="914377" rtl="0" eaLnBrk="1" latinLnBrk="0" hangingPunct="1">
        <a:lnSpc>
          <a:spcPct val="90000"/>
        </a:lnSpc>
        <a:spcBef>
          <a:spcPts val="500"/>
        </a:spcBef>
        <a:spcAft>
          <a:spcPts val="400"/>
        </a:spcAft>
        <a:buClr>
          <a:schemeClr val="accent2"/>
        </a:buClr>
        <a:buFont typeface="+mj-lt"/>
        <a:buNone/>
        <a:defRPr sz="1400" b="0" i="0" kern="1200" spc="-50" baseline="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11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11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026" userDrawn="1">
          <p15:clr>
            <a:srgbClr val="F26B43"/>
          </p15:clr>
        </p15:guide>
        <p15:guide id="6" orient="horz" pos="89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EEA20-501C-CA4D-B024-ACD67457C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 descr="Una persona con los brazos extendidos  El contenido generado por IA puede ser incorrecto.">
            <a:extLst>
              <a:ext uri="{FF2B5EF4-FFF2-40B4-BE49-F238E27FC236}">
                <a16:creationId xmlns:a16="http://schemas.microsoft.com/office/drawing/2014/main" id="{1B01B6F3-162D-F862-E092-2E3E1579C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12" name="Imagen 11" descr="Logotipo  El contenido generado por IA puede ser incorrecto.">
            <a:extLst>
              <a:ext uri="{FF2B5EF4-FFF2-40B4-BE49-F238E27FC236}">
                <a16:creationId xmlns:a16="http://schemas.microsoft.com/office/drawing/2014/main" id="{9057F3FA-B26D-9645-B946-56A8A57917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0587" y="110082"/>
            <a:ext cx="2749444" cy="1593881"/>
          </a:xfrm>
          <a:prstGeom prst="rect">
            <a:avLst/>
          </a:prstGeom>
        </p:spPr>
      </p:pic>
      <p:sp>
        <p:nvSpPr>
          <p:cNvPr id="13" name="Título 1">
            <a:extLst>
              <a:ext uri="{FF2B5EF4-FFF2-40B4-BE49-F238E27FC236}">
                <a16:creationId xmlns:a16="http://schemas.microsoft.com/office/drawing/2014/main" id="{C735EE70-BAB2-57BF-0EF8-DA2EB852106C}"/>
              </a:ext>
            </a:extLst>
          </p:cNvPr>
          <p:cNvSpPr txBox="1">
            <a:spLocks/>
          </p:cNvSpPr>
          <p:nvPr/>
        </p:nvSpPr>
        <p:spPr>
          <a:xfrm>
            <a:off x="5300000" y="3450000"/>
            <a:ext cx="6450000" cy="195000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/>
          <a:p>
            <a:pPr marL="0" indent="0">
              <a:buNone/>
            </a:pPr>
            <a:r>
              <a:rPr lang="es-CO" sz="6000">
                <a:solidFill>
                  <a:srgbClr val="FFFFFF"/>
                </a:solidFill>
                <a:latin typeface="Bariol" panose="02000506040000020003" pitchFamily="50" charset="0"/>
              </a:rPr>
              <a:t>Gestión de Activos Fijos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 sz="2000">
                <a:solidFill>
                  <a:srgbClr val="FFFFFF"/>
                </a:solidFill>
                <a:latin typeface="Bariol" panose="02000506040000020003" pitchFamily="50" charset="0"/>
              </a:rPr>
              <a:t>Guía de uso para el usuario</a:t>
            </a:r>
          </a:p>
        </p:txBody>
      </p:sp>
    </p:spTree>
    <p:extLst>
      <p:ext uri="{BB962C8B-B14F-4D97-AF65-F5344CB8AC3E}">
        <p14:creationId xmlns:p14="http://schemas.microsoft.com/office/powerpoint/2010/main" val="3136919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C71B1FE5-49E8-305C-67AA-2EEDB30201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pPr/>
              <a:t>2</a:t>
            </a:fld>
            <a:endParaRPr lang="es-ES_tradnl" sz="1000"/>
          </a:p>
        </p:txBody>
      </p:sp>
      <p:pic>
        <p:nvPicPr>
          <p:cNvPr id="6" name="Imagen 5" descr="Imagen que contiene Icono  El contenido generado por IA puede ser incorrecto.">
            <a:extLst>
              <a:ext uri="{FF2B5EF4-FFF2-40B4-BE49-F238E27FC236}">
                <a16:creationId xmlns:a16="http://schemas.microsoft.com/office/drawing/2014/main" id="{E4B9A577-EBFE-9667-84DD-2AFE73649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  <p:pic>
        <p:nvPicPr>
          <p:cNvPr id="17" name="Imagen 16" descr="Imagen que contiene Logotipo  El contenido generado por IA puede ser incorrecto.">
            <a:extLst>
              <a:ext uri="{FF2B5EF4-FFF2-40B4-BE49-F238E27FC236}">
                <a16:creationId xmlns:a16="http://schemas.microsoft.com/office/drawing/2014/main" id="{5D21599D-3D35-3676-8EF4-70E5A2CA8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4414" y="333377"/>
            <a:ext cx="1052621" cy="61052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2AFF411C-EAE9-D636-A7E7-953F8AF03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651" y="300000"/>
            <a:ext cx="9200000" cy="1150000"/>
          </a:xfrm>
        </p:spPr>
        <p:txBody>
          <a:bodyPr/>
          <a:lstStyle/>
          <a:p>
            <a:pPr marL="0" indent="0">
              <a:buNone/>
            </a:pPr>
            <a:r>
              <a:rPr lang="es-CO">
                <a:latin typeface="Bariol" panose="02000506040000020003" pitchFamily="50" charset="0"/>
              </a:rPr>
              <a:t>¿Qué es esta aplicación?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D88E0A4A-9D10-5EF8-47B7-D7EA37060660}"/>
              </a:ext>
            </a:extLst>
          </p:cNvPr>
          <p:cNvSpPr txBox="1">
            <a:spLocks/>
          </p:cNvSpPr>
          <p:nvPr/>
        </p:nvSpPr>
        <p:spPr>
          <a:xfrm>
            <a:off x="949651" y="1620000"/>
            <a:ext cx="7650000" cy="4600000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dirty="0"/>
              <a:t>Es una aplicación para tu computador que crea y capitaliza activos fijos en SAP de forma automática.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 dirty="0"/>
              <a:t>En lugar de cargar la información a mano, pantalla por pantalla, toma los datos que preparaste en Excel y los registra en SAP por ti.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 dirty="0"/>
              <a:t>También genera el reporte de control SOX y te permite consultar los activos que se crearon.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 dirty="0"/>
              <a:t>Tú preparas y supervisas; la aplicación hace el trabajo repetitivo.</a:t>
            </a:r>
          </a:p>
        </p:txBody>
      </p:sp>
    </p:spTree>
    <p:extLst>
      <p:ext uri="{BB962C8B-B14F-4D97-AF65-F5344CB8AC3E}">
        <p14:creationId xmlns:p14="http://schemas.microsoft.com/office/powerpoint/2010/main" val="4030836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9B8B-7DDE-8534-B66D-13E2691DE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716A16E2-6542-47AB-CB5A-AA1A42C8F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s-CO">
                <a:latin typeface="Bariol" panose="02000506040000020003" pitchFamily="50" charset="0"/>
              </a:rPr>
              <a:t>¿Qué puedes hacer con ella?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C548DBE-0DFE-E86D-5A1F-A784E6CA279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14350" y="1600000"/>
            <a:ext cx="5650000" cy="49500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s-CO" sz="1800" b="1"/>
              <a:t>Activos Fijos</a:t>
            </a:r>
          </a:p>
          <a:p>
            <a:pPr marL="274638" indent="-274638">
              <a:spcBef>
                <a:spcPts val="500"/>
              </a:spcBef>
              <a:buFont typeface="Arial"/>
              <a:buChar char="•"/>
            </a:pPr>
            <a:r>
              <a:rPr lang="es-CO" sz="1500"/>
              <a:t>Extraer la información para SAP.</a:t>
            </a:r>
          </a:p>
          <a:p>
            <a:pPr marL="274638" indent="-274638">
              <a:spcBef>
                <a:spcPts val="500"/>
              </a:spcBef>
              <a:buFont typeface="Arial"/>
              <a:buChar char="•"/>
            </a:pPr>
            <a:r>
              <a:rPr lang="es-CO" sz="1500"/>
              <a:t>Crear el activo automáticamente en SAP.</a:t>
            </a:r>
          </a:p>
          <a:p>
            <a:pPr marL="274638" indent="-274638">
              <a:spcBef>
                <a:spcPts val="500"/>
              </a:spcBef>
              <a:buFont typeface="Arial"/>
              <a:buChar char="•"/>
            </a:pPr>
            <a:r>
              <a:rPr lang="es-CO" sz="1500"/>
              <a:t>Consultar los activos ya creados.</a:t>
            </a:r>
          </a:p>
          <a:p>
            <a:pPr marL="274638" indent="-274638">
              <a:spcBef>
                <a:spcPts val="500"/>
              </a:spcBef>
              <a:buFont typeface="Arial"/>
              <a:buChar char="•"/>
            </a:pPr>
            <a:r>
              <a:rPr lang="es-CO" sz="1500"/>
              <a:t>Adjuntar documentos de soporte a cada activo.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 sz="1800" b="1"/>
              <a:t>Control SOX</a:t>
            </a:r>
          </a:p>
          <a:p>
            <a:pPr marL="274638" indent="-274638">
              <a:spcBef>
                <a:spcPts val="500"/>
              </a:spcBef>
              <a:buFont typeface="Arial"/>
              <a:buChar char="•"/>
            </a:pPr>
            <a:r>
              <a:rPr lang="es-CO" sz="1500"/>
              <a:t>Generar el reporte de control con sus evidencias en un solo Excel.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 sz="1800" b="1"/>
              <a:t>Reportes</a:t>
            </a:r>
          </a:p>
          <a:p>
            <a:pPr marL="274638" indent="-274638">
              <a:spcBef>
                <a:spcPts val="500"/>
              </a:spcBef>
              <a:buFont typeface="Arial"/>
              <a:buChar char="•"/>
            </a:pPr>
            <a:r>
              <a:rPr lang="es-CO" sz="1500"/>
              <a:t>Módulo reservado para nuevas funciones a futuro.</a:t>
            </a:r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DF45772F-1BFC-EC1A-DFB5-9468420C58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pPr/>
              <a:t>3</a:t>
            </a:fld>
            <a:endParaRPr lang="es-ES_tradnl" sz="1000"/>
          </a:p>
        </p:txBody>
      </p:sp>
      <p:pic>
        <p:nvPicPr>
          <p:cNvPr id="11" name="Imagen 10" descr="Imagen que contiene Interfaz de usuario gráfica  El contenido generado por IA puede ser incorrecto.">
            <a:extLst>
              <a:ext uri="{FF2B5EF4-FFF2-40B4-BE49-F238E27FC236}">
                <a16:creationId xmlns:a16="http://schemas.microsoft.com/office/drawing/2014/main" id="{E08CBAE9-8F59-4A66-BF92-6EB54FBC4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982230" y="1539071"/>
            <a:ext cx="9919503" cy="5574074"/>
          </a:xfrm>
          <a:prstGeom prst="rect">
            <a:avLst/>
          </a:prstGeom>
        </p:spPr>
      </p:pic>
      <p:sp>
        <p:nvSpPr>
          <p:cNvPr id="13" name="Marcador de contenido 5">
            <a:extLst>
              <a:ext uri="{FF2B5EF4-FFF2-40B4-BE49-F238E27FC236}">
                <a16:creationId xmlns:a16="http://schemas.microsoft.com/office/drawing/2014/main" id="{A8E9447D-30F7-EABE-AB32-0F97778CA18C}"/>
              </a:ext>
            </a:extLst>
          </p:cNvPr>
          <p:cNvSpPr txBox="1">
            <a:spLocks/>
          </p:cNvSpPr>
          <p:nvPr/>
        </p:nvSpPr>
        <p:spPr>
          <a:xfrm>
            <a:off x="6300000" y="1700000"/>
            <a:ext cx="5350000" cy="4700000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15763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DEA09B1E-6BAE-95BB-0BBF-123CF2C89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pPr/>
              <a:t>4</a:t>
            </a:fld>
            <a:endParaRPr lang="es-ES_tradnl" sz="1000"/>
          </a:p>
        </p:txBody>
      </p:sp>
      <p:pic>
        <p:nvPicPr>
          <p:cNvPr id="8" name="Imagen 7" descr="Imagen que contiene Icono  El contenido generado por IA puede ser incorrecto.">
            <a:extLst>
              <a:ext uri="{FF2B5EF4-FFF2-40B4-BE49-F238E27FC236}">
                <a16:creationId xmlns:a16="http://schemas.microsoft.com/office/drawing/2014/main" id="{FD870812-987C-D46A-56A5-567719FA0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  <p:pic>
        <p:nvPicPr>
          <p:cNvPr id="9" name="Imagen 8" descr="Logotipo  El contenido generado por IA puede ser incorrecto.">
            <a:extLst>
              <a:ext uri="{FF2B5EF4-FFF2-40B4-BE49-F238E27FC236}">
                <a16:creationId xmlns:a16="http://schemas.microsoft.com/office/drawing/2014/main" id="{6948155E-6163-E469-7243-84A46C29C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4414" y="333378"/>
            <a:ext cx="1053147" cy="61052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AD0FC757-D97E-0DF1-ED2B-AE9100758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0617" y="-482471"/>
            <a:ext cx="7000000" cy="2852737"/>
          </a:xfrm>
        </p:spPr>
        <p:txBody>
          <a:bodyPr/>
          <a:lstStyle/>
          <a:p>
            <a:pPr marL="0" indent="0">
              <a:buNone/>
            </a:pPr>
            <a:r>
              <a:rPr lang="es-CO" sz="3200">
                <a:solidFill>
                  <a:schemeClr val="bg1"/>
                </a:solidFill>
                <a:latin typeface="Bariol" panose="02000506040000020003" pitchFamily="50" charset="0"/>
              </a:rPr>
              <a:t>Antes de empezar</a:t>
            </a: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909C0CE7-C067-0659-3393-EE588C294EF6}"/>
              </a:ext>
            </a:extLst>
          </p:cNvPr>
          <p:cNvSpPr txBox="1">
            <a:spLocks/>
          </p:cNvSpPr>
          <p:nvPr/>
        </p:nvSpPr>
        <p:spPr>
          <a:xfrm>
            <a:off x="4670617" y="2476783"/>
            <a:ext cx="7146172" cy="4100000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>
                <a:solidFill>
                  <a:schemeClr val="bg1"/>
                </a:solidFill>
              </a:rPr>
              <a:t>Para usar la aplicación necesitas tres cosas listas:</a:t>
            </a:r>
          </a:p>
          <a:p>
            <a:pPr marL="357188" indent="-357188">
              <a:spcBef>
                <a:spcPts val="600"/>
              </a:spcBef>
              <a:buFont typeface="+mj-lt"/>
              <a:buAutoNum type="arabicPeriod"/>
            </a:pPr>
            <a:r>
              <a:rPr lang="es-CO">
                <a:solidFill>
                  <a:schemeClr val="bg1"/>
                </a:solidFill>
              </a:rPr>
              <a:t>El formulario de Excel diligenciado con los datos del activo, abierto y guardado.</a:t>
            </a:r>
          </a:p>
          <a:p>
            <a:pPr marL="357188" indent="-357188">
              <a:spcBef>
                <a:spcPts val="600"/>
              </a:spcBef>
              <a:buFont typeface="+mj-lt"/>
              <a:buAutoNum type="arabicPeriod"/>
            </a:pPr>
            <a:r>
              <a:rPr lang="es-CO">
                <a:solidFill>
                  <a:schemeClr val="bg1"/>
                </a:solidFill>
              </a:rPr>
              <a:t>SAP abierto y con tu sesión ya iniciada (la aplicación no inicia sesión por ti).</a:t>
            </a:r>
          </a:p>
          <a:p>
            <a:pPr marL="357188" indent="-357188">
              <a:spcBef>
                <a:spcPts val="600"/>
              </a:spcBef>
              <a:buFont typeface="+mj-lt"/>
              <a:buAutoNum type="arabicPeriod"/>
            </a:pPr>
            <a:r>
              <a:rPr lang="es-CO">
                <a:solidFill>
                  <a:schemeClr val="bg1"/>
                </a:solidFill>
              </a:rPr>
              <a:t>La aplicación abierta en tu computador.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 b="1">
                <a:solidFill>
                  <a:schemeClr val="bg1"/>
                </a:solidFill>
              </a:rPr>
              <a:t>Mientras la aplicación trabaja con SAP, no uses el mouse ni el teclado.</a:t>
            </a:r>
          </a:p>
        </p:txBody>
      </p:sp>
    </p:spTree>
    <p:extLst>
      <p:ext uri="{BB962C8B-B14F-4D97-AF65-F5344CB8AC3E}">
        <p14:creationId xmlns:p14="http://schemas.microsoft.com/office/powerpoint/2010/main" val="590287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3C27B-C968-527F-3891-8AB4EC680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F95579-7580-7EEE-8D37-1E90AF6CF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000" y="2450000"/>
            <a:ext cx="3250000" cy="1700000"/>
          </a:xfrm>
        </p:spPr>
        <p:txBody>
          <a:bodyPr/>
          <a:lstStyle/>
          <a:p>
            <a:pPr marL="0" indent="0">
              <a:buNone/>
            </a:pPr>
            <a:r>
              <a:rPr lang="es-CO" sz="2800"/>
              <a:t>El flujo del proceso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 sz="1300"/>
              <a:t>Del formulario en Excel al activo creado en SAP.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9E7F349-BC82-D2F6-B04D-FBB941442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497711"/>
            <a:ext cx="7146172" cy="5564607"/>
          </a:xfrm>
        </p:spPr>
        <p:txBody>
          <a:bodyPr/>
          <a:lstStyle/>
          <a:p>
            <a:pPr marL="0" indent="0">
              <a:buNone/>
            </a:pPr>
            <a:endParaRPr lang="es-ES_tradnl">
              <a:latin typeface="Calibri Light"/>
              <a:ea typeface="Calibri Light"/>
              <a:cs typeface="Calibri Light"/>
            </a:endParaRPr>
          </a:p>
          <a:p>
            <a:pPr marL="342900" indent="-342900">
              <a:buFont typeface="Calibri"/>
              <a:buChar char="-"/>
            </a:pPr>
            <a:endParaRPr lang="es-ES_tradnl" b="0">
              <a:latin typeface="Calibri Light"/>
              <a:ea typeface="Calibri Light"/>
              <a:cs typeface="Calibri Light"/>
            </a:endParaRPr>
          </a:p>
        </p:txBody>
      </p:sp>
      <p:pic>
        <p:nvPicPr>
          <p:cNvPr id="6" name="Imagen 5" descr="Texto  El contenido generado por IA puede ser incorrecto.">
            <a:extLst>
              <a:ext uri="{FF2B5EF4-FFF2-40B4-BE49-F238E27FC236}">
                <a16:creationId xmlns:a16="http://schemas.microsoft.com/office/drawing/2014/main" id="{33688F1A-C0F9-121F-204C-269285336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2000" y="1780000"/>
            <a:ext cx="7400000" cy="329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64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015669-66ED-D51F-0B8F-226AFFBCF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s-CO">
                <a:latin typeface="Bariol" panose="02000506040000020003" pitchFamily="50" charset="0"/>
              </a:rPr>
              <a:t>Activos Fijos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2CAB150-398A-0BEF-B691-BF9A66542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CO"/>
              <a:t>Crea activos en SAP, consulta los que se generaron y adjunta sus documentos de soporte.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48A5407-45D9-3659-5333-5E8867BC1B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s-CO">
                <a:latin typeface="Bariol" panose="02000506040000020003" pitchFamily="50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23546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C71B1FE5-49E8-305C-67AA-2EEDB30201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pPr/>
              <a:t>7</a:t>
            </a:fld>
            <a:endParaRPr lang="es-ES_tradnl" sz="1000"/>
          </a:p>
        </p:txBody>
      </p:sp>
      <p:pic>
        <p:nvPicPr>
          <p:cNvPr id="6" name="Imagen 5" descr="Imagen que contiene Icono  El contenido generado por IA puede ser incorrecto.">
            <a:extLst>
              <a:ext uri="{FF2B5EF4-FFF2-40B4-BE49-F238E27FC236}">
                <a16:creationId xmlns:a16="http://schemas.microsoft.com/office/drawing/2014/main" id="{E4B9A577-EBFE-9667-84DD-2AFE73649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  <p:pic>
        <p:nvPicPr>
          <p:cNvPr id="17" name="Imagen 16" descr="Imagen que contiene Logotipo  El contenido generado por IA puede ser incorrecto.">
            <a:extLst>
              <a:ext uri="{FF2B5EF4-FFF2-40B4-BE49-F238E27FC236}">
                <a16:creationId xmlns:a16="http://schemas.microsoft.com/office/drawing/2014/main" id="{5D21599D-3D35-3676-8EF4-70E5A2CA8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4414" y="333377"/>
            <a:ext cx="1052621" cy="61052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2AFF411C-EAE9-D636-A7E7-953F8AF03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651" y="300000"/>
            <a:ext cx="9200000" cy="1150000"/>
          </a:xfrm>
        </p:spPr>
        <p:txBody>
          <a:bodyPr/>
          <a:lstStyle/>
          <a:p>
            <a:pPr marL="0" indent="0">
              <a:buNone/>
            </a:pPr>
            <a:r>
              <a:rPr lang="es-CO">
                <a:latin typeface="Bariol" panose="02000506040000020003" pitchFamily="50" charset="0"/>
              </a:rPr>
              <a:t>Paso 1 · Extraer la información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D88E0A4A-9D10-5EF8-47B7-D7EA37060660}"/>
              </a:ext>
            </a:extLst>
          </p:cNvPr>
          <p:cNvSpPr txBox="1">
            <a:spLocks/>
          </p:cNvSpPr>
          <p:nvPr/>
        </p:nvSpPr>
        <p:spPr>
          <a:xfrm>
            <a:off x="949651" y="1620000"/>
            <a:ext cx="7650000" cy="4600000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/>
              <a:t>Entra a la tarjeta Activos Fijos y pulsa Extraer información en txt.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/>
              <a:t>La aplicación toma los datos del formulario de Excel y los deja listos para SAP.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/>
              <a:t>Si ya existe una extracción anterior, te preguntará si deseas reemplazarla.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/>
              <a:t>Al terminar verás un mensaje con la cantidad de registros preparados.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 b="1"/>
              <a:t>Recuerda guardar el Excel antes de extraer, para que los datos estén actualizados.</a:t>
            </a:r>
          </a:p>
        </p:txBody>
      </p:sp>
    </p:spTree>
    <p:extLst>
      <p:ext uri="{BB962C8B-B14F-4D97-AF65-F5344CB8AC3E}">
        <p14:creationId xmlns:p14="http://schemas.microsoft.com/office/powerpoint/2010/main" val="4030836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DEA09B1E-6BAE-95BB-0BBF-123CF2C89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pPr/>
              <a:t>8</a:t>
            </a:fld>
            <a:endParaRPr lang="es-ES_tradnl" sz="1000"/>
          </a:p>
        </p:txBody>
      </p:sp>
      <p:pic>
        <p:nvPicPr>
          <p:cNvPr id="8" name="Imagen 7" descr="Imagen que contiene Icono  El contenido generado por IA puede ser incorrecto.">
            <a:extLst>
              <a:ext uri="{FF2B5EF4-FFF2-40B4-BE49-F238E27FC236}">
                <a16:creationId xmlns:a16="http://schemas.microsoft.com/office/drawing/2014/main" id="{FD870812-987C-D46A-56A5-567719FA0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  <p:pic>
        <p:nvPicPr>
          <p:cNvPr id="9" name="Imagen 8" descr="Logotipo  El contenido generado por IA puede ser incorrecto.">
            <a:extLst>
              <a:ext uri="{FF2B5EF4-FFF2-40B4-BE49-F238E27FC236}">
                <a16:creationId xmlns:a16="http://schemas.microsoft.com/office/drawing/2014/main" id="{6948155E-6163-E469-7243-84A46C29C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4414" y="333378"/>
            <a:ext cx="1053147" cy="61052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AD0FC757-D97E-0DF1-ED2B-AE9100758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0617" y="-482471"/>
            <a:ext cx="7000000" cy="2852737"/>
          </a:xfrm>
        </p:spPr>
        <p:txBody>
          <a:bodyPr/>
          <a:lstStyle/>
          <a:p>
            <a:pPr marL="0" indent="0">
              <a:buNone/>
            </a:pPr>
            <a:r>
              <a:rPr lang="es-CO" sz="3200">
                <a:solidFill>
                  <a:schemeClr val="bg1"/>
                </a:solidFill>
                <a:latin typeface="Bariol" panose="02000506040000020003" pitchFamily="50" charset="0"/>
              </a:rPr>
              <a:t>Paso 2 · Crear el activo en SAP</a:t>
            </a: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909C0CE7-C067-0659-3393-EE588C294EF6}"/>
              </a:ext>
            </a:extLst>
          </p:cNvPr>
          <p:cNvSpPr txBox="1">
            <a:spLocks/>
          </p:cNvSpPr>
          <p:nvPr/>
        </p:nvSpPr>
        <p:spPr>
          <a:xfrm>
            <a:off x="4670617" y="2476783"/>
            <a:ext cx="7146172" cy="4100000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>
                <a:solidFill>
                  <a:schemeClr val="bg1"/>
                </a:solidFill>
              </a:rPr>
              <a:t>Con SAP abierto, pulsa Creación de Activo.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>
                <a:solidFill>
                  <a:schemeClr val="bg1"/>
                </a:solidFill>
              </a:rPr>
              <a:t>Este botón se habilita solo cuando ya hay una extracción lista.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>
                <a:solidFill>
                  <a:schemeClr val="bg1"/>
                </a:solidFill>
              </a:rPr>
              <a:t>La aplicación pedirá confirmación y luego cargará la información en SAP automáticamente, paso a paso. Verás el avance en pantalla.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 b="1">
                <a:solidFill>
                  <a:schemeClr val="bg1"/>
                </a:solidFill>
              </a:rPr>
              <a:t>No toques el equipo mientras trabaja. Al finalizar, los activos quedan creados en SAP.</a:t>
            </a:r>
          </a:p>
        </p:txBody>
      </p:sp>
    </p:spTree>
    <p:extLst>
      <p:ext uri="{BB962C8B-B14F-4D97-AF65-F5344CB8AC3E}">
        <p14:creationId xmlns:p14="http://schemas.microsoft.com/office/powerpoint/2010/main" val="590287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C71B1FE5-49E8-305C-67AA-2EEDB30201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pPr/>
              <a:t>9</a:t>
            </a:fld>
            <a:endParaRPr lang="es-ES_tradnl" sz="1000"/>
          </a:p>
        </p:txBody>
      </p:sp>
      <p:pic>
        <p:nvPicPr>
          <p:cNvPr id="6" name="Imagen 5" descr="Imagen que contiene Icono  El contenido generado por IA puede ser incorrecto.">
            <a:extLst>
              <a:ext uri="{FF2B5EF4-FFF2-40B4-BE49-F238E27FC236}">
                <a16:creationId xmlns:a16="http://schemas.microsoft.com/office/drawing/2014/main" id="{E4B9A577-EBFE-9667-84DD-2AFE73649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  <p:pic>
        <p:nvPicPr>
          <p:cNvPr id="17" name="Imagen 16" descr="Imagen que contiene Logotipo  El contenido generado por IA puede ser incorrecto.">
            <a:extLst>
              <a:ext uri="{FF2B5EF4-FFF2-40B4-BE49-F238E27FC236}">
                <a16:creationId xmlns:a16="http://schemas.microsoft.com/office/drawing/2014/main" id="{5D21599D-3D35-3676-8EF4-70E5A2CA8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4414" y="333377"/>
            <a:ext cx="1052621" cy="61052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2AFF411C-EAE9-D636-A7E7-953F8AF03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651" y="300000"/>
            <a:ext cx="9200000" cy="1150000"/>
          </a:xfrm>
        </p:spPr>
        <p:txBody>
          <a:bodyPr/>
          <a:lstStyle/>
          <a:p>
            <a:pPr marL="0" indent="0">
              <a:buNone/>
            </a:pPr>
            <a:r>
              <a:rPr lang="es-CO">
                <a:latin typeface="Bariol" panose="02000506040000020003" pitchFamily="50" charset="0"/>
              </a:rPr>
              <a:t>Paso 3 · Consultar los activos creados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D88E0A4A-9D10-5EF8-47B7-D7EA37060660}"/>
              </a:ext>
            </a:extLst>
          </p:cNvPr>
          <p:cNvSpPr txBox="1">
            <a:spLocks/>
          </p:cNvSpPr>
          <p:nvPr/>
        </p:nvSpPr>
        <p:spPr>
          <a:xfrm>
            <a:off x="949651" y="1620000"/>
            <a:ext cx="7650000" cy="4600000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/>
              <a:t>Pulsa Extraer Activos Creados, escribe tu usuario de SAP y pulsa Ejecutar.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/>
              <a:t>La aplicación consulta en SAP los activos que se crearon y genera un archivo de Excel con el listado y el número de cada activo.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/>
              <a:t>Es la forma rápida de confirmar que se registró y tener el soporte a la mano.</a:t>
            </a:r>
          </a:p>
        </p:txBody>
      </p:sp>
    </p:spTree>
    <p:extLst>
      <p:ext uri="{BB962C8B-B14F-4D97-AF65-F5344CB8AC3E}">
        <p14:creationId xmlns:p14="http://schemas.microsoft.com/office/powerpoint/2010/main" val="4030836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DEA09B1E-6BAE-95BB-0BBF-123CF2C89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pPr/>
              <a:t>10</a:t>
            </a:fld>
            <a:endParaRPr lang="es-ES_tradnl" sz="1000"/>
          </a:p>
        </p:txBody>
      </p:sp>
      <p:pic>
        <p:nvPicPr>
          <p:cNvPr id="8" name="Imagen 7" descr="Imagen que contiene Icono  El contenido generado por IA puede ser incorrecto.">
            <a:extLst>
              <a:ext uri="{FF2B5EF4-FFF2-40B4-BE49-F238E27FC236}">
                <a16:creationId xmlns:a16="http://schemas.microsoft.com/office/drawing/2014/main" id="{FD870812-987C-D46A-56A5-567719FA0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  <p:pic>
        <p:nvPicPr>
          <p:cNvPr id="9" name="Imagen 8" descr="Logotipo  El contenido generado por IA puede ser incorrecto.">
            <a:extLst>
              <a:ext uri="{FF2B5EF4-FFF2-40B4-BE49-F238E27FC236}">
                <a16:creationId xmlns:a16="http://schemas.microsoft.com/office/drawing/2014/main" id="{6948155E-6163-E469-7243-84A46C29C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4414" y="333378"/>
            <a:ext cx="1053147" cy="61052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AD0FC757-D97E-0DF1-ED2B-AE9100758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0617" y="-482471"/>
            <a:ext cx="7000000" cy="2852737"/>
          </a:xfrm>
        </p:spPr>
        <p:txBody>
          <a:bodyPr/>
          <a:lstStyle/>
          <a:p>
            <a:pPr marL="0" indent="0">
              <a:buNone/>
            </a:pPr>
            <a:r>
              <a:rPr lang="es-CO" sz="3200">
                <a:solidFill>
                  <a:schemeClr val="bg1"/>
                </a:solidFill>
                <a:latin typeface="Bariol" panose="02000506040000020003" pitchFamily="50" charset="0"/>
              </a:rPr>
              <a:t>Paso 4 · Subir los anexos</a:t>
            </a: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909C0CE7-C067-0659-3393-EE588C294EF6}"/>
              </a:ext>
            </a:extLst>
          </p:cNvPr>
          <p:cNvSpPr txBox="1">
            <a:spLocks/>
          </p:cNvSpPr>
          <p:nvPr/>
        </p:nvSpPr>
        <p:spPr>
          <a:xfrm>
            <a:off x="4670617" y="2476783"/>
            <a:ext cx="7146172" cy="4100000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>
                <a:solidFill>
                  <a:schemeClr val="bg1"/>
                </a:solidFill>
              </a:rPr>
              <a:t>Pulsa Subir Anexos, elige la sociedad y selecciona los documentos que quieres adjuntar.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>
                <a:solidFill>
                  <a:schemeClr val="bg1"/>
                </a:solidFill>
              </a:rPr>
              <a:t>La aplicación toma el listado de activos creados y adjunta cada documento a cada activo en SAP, uno por uno.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>
                <a:solidFill>
                  <a:schemeClr val="bg1"/>
                </a:solidFill>
              </a:rPr>
              <a:t>Si hay muchos activos el proceso es largo: déjalo trabajar sin interrupciones.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 b="1">
                <a:solidFill>
                  <a:schemeClr val="bg1"/>
                </a:solidFill>
              </a:rPr>
              <a:t>Al final verás un resumen de cuántos se subieron correctamente.</a:t>
            </a:r>
          </a:p>
        </p:txBody>
      </p:sp>
    </p:spTree>
    <p:extLst>
      <p:ext uri="{BB962C8B-B14F-4D97-AF65-F5344CB8AC3E}">
        <p14:creationId xmlns:p14="http://schemas.microsoft.com/office/powerpoint/2010/main" val="590287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015669-66ED-D51F-0B8F-226AFFBCF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s-CO">
                <a:latin typeface="Bariol" panose="02000506040000020003" pitchFamily="50" charset="0"/>
              </a:rPr>
              <a:t>Control SOX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2CAB150-398A-0BEF-B691-BF9A66542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CO"/>
              <a:t>Genera el reporte de control de activos con todas sus evidencias, listo para auditoría.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48A5407-45D9-3659-5333-5E8867BC1B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s-CO">
                <a:latin typeface="Bariol" panose="02000506040000020003" pitchFamily="50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23546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9B8B-7DDE-8534-B66D-13E2691DE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716A16E2-6542-47AB-CB5A-AA1A42C8F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s-CO">
                <a:latin typeface="Bariol" panose="02000506040000020003" pitchFamily="50" charset="0"/>
              </a:rPr>
              <a:t>Generar el Reporte SOX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C548DBE-0DFE-E86D-5A1F-A784E6CA279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14350" y="1600000"/>
            <a:ext cx="5650000" cy="49500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s-CO" sz="1800" b="1"/>
              <a:t>Cómo generarlo</a:t>
            </a:r>
          </a:p>
          <a:p>
            <a:pPr marL="357188" indent="-357188">
              <a:spcBef>
                <a:spcPts val="600"/>
              </a:spcBef>
              <a:buFont typeface="+mj-lt"/>
              <a:buAutoNum type="arabicPeriod"/>
            </a:pPr>
            <a:r>
              <a:rPr lang="es-CO" sz="1500"/>
              <a:t>Entra a Control SOX y luego a HUB.PPE.01 Creación de Activos Fijos.</a:t>
            </a:r>
          </a:p>
          <a:p>
            <a:pPr marL="357188" indent="-357188">
              <a:spcBef>
                <a:spcPts val="600"/>
              </a:spcBef>
              <a:buFont typeface="+mj-lt"/>
              <a:buAutoNum type="arabicPeriod"/>
            </a:pPr>
            <a:r>
              <a:rPr lang="es-CO" sz="1500"/>
              <a:t>Elige la sociedad y las fechas Desde y Hasta.</a:t>
            </a:r>
          </a:p>
          <a:p>
            <a:pPr marL="357188" indent="-357188">
              <a:spcBef>
                <a:spcPts val="600"/>
              </a:spcBef>
              <a:buFont typeface="+mj-lt"/>
              <a:buAutoNum type="arabicPeriod"/>
            </a:pPr>
            <a:r>
              <a:rPr lang="es-CO" sz="1500"/>
              <a:t>Pulsa Generar Reporte SOX.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s-CO" sz="1800" b="1"/>
              <a:t>Qué tener en cuenta</a:t>
            </a:r>
          </a:p>
          <a:p>
            <a:pPr marL="274638" indent="-274638">
              <a:spcBef>
                <a:spcPts val="500"/>
              </a:spcBef>
              <a:buFont typeface="Arial"/>
              <a:buChar char="•"/>
            </a:pPr>
            <a:r>
              <a:rPr lang="es-CO" sz="1500"/>
              <a:t>SAP debe estar abierto y con tu sesión iniciada.</a:t>
            </a:r>
          </a:p>
          <a:p>
            <a:pPr marL="274638" indent="-274638">
              <a:spcBef>
                <a:spcPts val="500"/>
              </a:spcBef>
              <a:buFont typeface="Arial"/>
              <a:buChar char="•"/>
            </a:pPr>
            <a:r>
              <a:rPr lang="es-CO" sz="1500"/>
              <a:t>La fecha Hasta no puede ser anterior a la fecha Desde.</a:t>
            </a:r>
          </a:p>
          <a:p>
            <a:pPr marL="274638" indent="-274638">
              <a:spcBef>
                <a:spcPts val="500"/>
              </a:spcBef>
              <a:buFont typeface="Arial"/>
              <a:buChar char="•"/>
            </a:pPr>
            <a:r>
              <a:rPr lang="es-CO" sz="1500"/>
              <a:t>La aplicación toma capturas como evidencia; déjala trabajar.</a:t>
            </a:r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DF45772F-1BFC-EC1A-DFB5-9468420C58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pPr/>
              <a:t>12</a:t>
            </a:fld>
            <a:endParaRPr lang="es-ES_tradnl" sz="1000"/>
          </a:p>
        </p:txBody>
      </p:sp>
      <p:pic>
        <p:nvPicPr>
          <p:cNvPr id="11" name="Imagen 10" descr="Imagen que contiene Interfaz de usuario gráfica  El contenido generado por IA puede ser incorrecto.">
            <a:extLst>
              <a:ext uri="{FF2B5EF4-FFF2-40B4-BE49-F238E27FC236}">
                <a16:creationId xmlns:a16="http://schemas.microsoft.com/office/drawing/2014/main" id="{E08CBAE9-8F59-4A66-BF92-6EB54FBC4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982230" y="1539071"/>
            <a:ext cx="9919503" cy="5574074"/>
          </a:xfrm>
          <a:prstGeom prst="rect">
            <a:avLst/>
          </a:prstGeom>
        </p:spPr>
      </p:pic>
      <p:sp>
        <p:nvSpPr>
          <p:cNvPr id="13" name="Marcador de contenido 5">
            <a:extLst>
              <a:ext uri="{FF2B5EF4-FFF2-40B4-BE49-F238E27FC236}">
                <a16:creationId xmlns:a16="http://schemas.microsoft.com/office/drawing/2014/main" id="{A8E9447D-30F7-EABE-AB32-0F97778CA18C}"/>
              </a:ext>
            </a:extLst>
          </p:cNvPr>
          <p:cNvSpPr txBox="1">
            <a:spLocks/>
          </p:cNvSpPr>
          <p:nvPr/>
        </p:nvSpPr>
        <p:spPr>
          <a:xfrm>
            <a:off x="6300000" y="1700000"/>
            <a:ext cx="5350000" cy="4700000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15763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B9D25-FC1A-729E-B3B2-49C721046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D18E6B95-780E-C0C8-FD80-78AD287D4D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pPr/>
              <a:t>13</a:t>
            </a:fld>
            <a:endParaRPr lang="es-ES_tradnl" sz="1000"/>
          </a:p>
        </p:txBody>
      </p:sp>
      <p:pic>
        <p:nvPicPr>
          <p:cNvPr id="12" name="Imagen 11" descr="Gráfico, Gráfico de rectángulos  El contenido generado por IA puede ser incorrecto.">
            <a:extLst>
              <a:ext uri="{FF2B5EF4-FFF2-40B4-BE49-F238E27FC236}">
                <a16:creationId xmlns:a16="http://schemas.microsoft.com/office/drawing/2014/main" id="{EAFE6337-5BC9-D7BA-67FE-68CB1E857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6256"/>
            <a:ext cx="12191999" cy="6858000"/>
          </a:xfrm>
          <a:prstGeom prst="rect">
            <a:avLst/>
          </a:prstGeom>
        </p:spPr>
      </p:pic>
      <p:pic>
        <p:nvPicPr>
          <p:cNvPr id="3" name="Imagen 2" descr="Imagen que contiene Logotipo  El contenido generado por IA puede ser incorrecto.">
            <a:extLst>
              <a:ext uri="{FF2B5EF4-FFF2-40B4-BE49-F238E27FC236}">
                <a16:creationId xmlns:a16="http://schemas.microsoft.com/office/drawing/2014/main" id="{6F2C3DEB-3068-153F-2252-D9D5DFCDC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4414" y="333377"/>
            <a:ext cx="1052621" cy="610520"/>
          </a:xfrm>
          <a:prstGeom prst="rect">
            <a:avLst/>
          </a:prstGeom>
        </p:spPr>
      </p:pic>
      <p:sp>
        <p:nvSpPr>
          <p:cNvPr id="5" name="Marcador de texto 3">
            <a:extLst>
              <a:ext uri="{FF2B5EF4-FFF2-40B4-BE49-F238E27FC236}">
                <a16:creationId xmlns:a16="http://schemas.microsoft.com/office/drawing/2014/main" id="{F101DA4E-B267-1239-490D-3E9FC384E1A3}"/>
              </a:ext>
            </a:extLst>
          </p:cNvPr>
          <p:cNvSpPr txBox="1">
            <a:spLocks/>
          </p:cNvSpPr>
          <p:nvPr/>
        </p:nvSpPr>
        <p:spPr>
          <a:xfrm>
            <a:off x="369329" y="2637929"/>
            <a:ext cx="1620078" cy="1582142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400"/>
              </a:spcAft>
              <a:buClr>
                <a:schemeClr val="accent2"/>
              </a:buClr>
              <a:buFont typeface="+mj-lt"/>
              <a:buNone/>
              <a:defRPr sz="1400" b="0" i="0" kern="1200" spc="-50" baseline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45718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400"/>
              </a:spcAft>
              <a:buClr>
                <a:schemeClr val="accent2"/>
              </a:buClr>
              <a:buFont typeface="+mj-lt"/>
              <a:buNone/>
              <a:defRPr sz="1400" b="0" i="0" kern="1200" spc="-50" baseline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914377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400"/>
              </a:spcAft>
              <a:buClr>
                <a:schemeClr val="accent2"/>
              </a:buClr>
              <a:buFont typeface="+mj-lt"/>
              <a:buNone/>
              <a:defRPr sz="1400" b="0" i="0" kern="1200" spc="-50" baseline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371566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400"/>
              </a:spcAft>
              <a:buClr>
                <a:schemeClr val="accent2"/>
              </a:buClr>
              <a:buFont typeface="+mj-lt"/>
              <a:buNone/>
              <a:defRPr sz="1400" b="0" i="0" kern="1200" spc="-50" baseline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828755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400"/>
              </a:spcAft>
              <a:buClr>
                <a:schemeClr val="accent2"/>
              </a:buClr>
              <a:buFont typeface="+mj-lt"/>
              <a:buNone/>
              <a:defRPr sz="1400" b="0" i="0" kern="1200" spc="-50" baseline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6600">
                <a:solidFill>
                  <a:schemeClr val="bg1"/>
                </a:solidFill>
                <a:latin typeface="Bariol" panose="02000506040000020003" pitchFamily="50" charset="0"/>
              </a:rPr>
              <a:t>1</a:t>
            </a:r>
          </a:p>
        </p:txBody>
      </p:sp>
      <p:sp>
        <p:nvSpPr>
          <p:cNvPr id="7" name="Marcador de texto 3">
            <a:extLst>
              <a:ext uri="{FF2B5EF4-FFF2-40B4-BE49-F238E27FC236}">
                <a16:creationId xmlns:a16="http://schemas.microsoft.com/office/drawing/2014/main" id="{ED9C5867-802D-BAB0-8B60-B1DA9A8C932A}"/>
              </a:ext>
            </a:extLst>
          </p:cNvPr>
          <p:cNvSpPr txBox="1">
            <a:spLocks/>
          </p:cNvSpPr>
          <p:nvPr/>
        </p:nvSpPr>
        <p:spPr>
          <a:xfrm>
            <a:off x="6400800" y="2637929"/>
            <a:ext cx="1620078" cy="1582142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400"/>
              </a:spcAft>
              <a:buClr>
                <a:schemeClr val="accent2"/>
              </a:buClr>
              <a:buFont typeface="+mj-lt"/>
              <a:buNone/>
              <a:defRPr sz="1400" b="0" i="0" kern="1200" spc="-50" baseline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45718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400"/>
              </a:spcAft>
              <a:buClr>
                <a:schemeClr val="accent2"/>
              </a:buClr>
              <a:buFont typeface="+mj-lt"/>
              <a:buNone/>
              <a:defRPr sz="1400" b="0" i="0" kern="1200" spc="-50" baseline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914377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400"/>
              </a:spcAft>
              <a:buClr>
                <a:schemeClr val="accent2"/>
              </a:buClr>
              <a:buFont typeface="+mj-lt"/>
              <a:buNone/>
              <a:defRPr sz="1400" b="0" i="0" kern="1200" spc="-50" baseline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371566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400"/>
              </a:spcAft>
              <a:buClr>
                <a:schemeClr val="accent2"/>
              </a:buClr>
              <a:buFont typeface="+mj-lt"/>
              <a:buNone/>
              <a:defRPr sz="1400" b="0" i="0" kern="1200" spc="-50" baseline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828755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400"/>
              </a:spcAft>
              <a:buClr>
                <a:schemeClr val="accent2"/>
              </a:buClr>
              <a:buFont typeface="+mj-lt"/>
              <a:buNone/>
              <a:defRPr sz="1400" b="0" i="0" kern="1200" spc="-50" baseline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6600">
                <a:solidFill>
                  <a:schemeClr val="bg1"/>
                </a:solidFill>
                <a:latin typeface="Bariol" panose="02000506040000020003" pitchFamily="50" charset="0"/>
              </a:rPr>
              <a:t>2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10217DE0-5C6E-DF1C-A7D9-5A5D32108314}"/>
              </a:ext>
            </a:extLst>
          </p:cNvPr>
          <p:cNvSpPr txBox="1">
            <a:spLocks/>
          </p:cNvSpPr>
          <p:nvPr/>
        </p:nvSpPr>
        <p:spPr>
          <a:xfrm>
            <a:off x="700000" y="300000"/>
            <a:ext cx="9600000" cy="1300000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es-CO" sz="6600">
                <a:solidFill>
                  <a:schemeClr val="tx2"/>
                </a:solidFill>
                <a:latin typeface="Bariol" panose="02000506040000020003" pitchFamily="50" charset="0"/>
              </a:rPr>
              <a:t>El resultado: el archivo Población</a:t>
            </a:r>
          </a:p>
        </p:txBody>
      </p:sp>
      <p:sp>
        <p:nvSpPr>
          <p:cNvPr id="9" name="Subtítulo 2">
            <a:extLst>
              <a:ext uri="{FF2B5EF4-FFF2-40B4-BE49-F238E27FC236}">
                <a16:creationId xmlns:a16="http://schemas.microsoft.com/office/drawing/2014/main" id="{5AE5D6A4-2FE4-C3EE-E591-846A37BB0850}"/>
              </a:ext>
            </a:extLst>
          </p:cNvPr>
          <p:cNvSpPr txBox="1">
            <a:spLocks/>
          </p:cNvSpPr>
          <p:nvPr/>
        </p:nvSpPr>
        <p:spPr>
          <a:xfrm>
            <a:off x="369329" y="3764650"/>
            <a:ext cx="5400000" cy="240000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500"/>
              </a:spcBef>
              <a:buNone/>
            </a:pPr>
            <a:r>
              <a:rPr lang="es-CO" b="1">
                <a:solidFill>
                  <a:schemeClr val="bg1"/>
                </a:solidFill>
              </a:rPr>
              <a:t>Dónde queda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s-CO">
                <a:solidFill>
                  <a:schemeClr val="bg1"/>
                </a:solidFill>
              </a:rPr>
              <a:t>Se guarda como un archivo de Excel llamado Población, con la sociedad y la fecha en el nombre.</a:t>
            </a:r>
          </a:p>
        </p:txBody>
      </p:sp>
      <p:sp>
        <p:nvSpPr>
          <p:cNvPr id="10" name="Subtítulo 2">
            <a:extLst>
              <a:ext uri="{FF2B5EF4-FFF2-40B4-BE49-F238E27FC236}">
                <a16:creationId xmlns:a16="http://schemas.microsoft.com/office/drawing/2014/main" id="{9D9FBE8E-6096-F282-F9C5-761D980EF3CD}"/>
              </a:ext>
            </a:extLst>
          </p:cNvPr>
          <p:cNvSpPr txBox="1">
            <a:spLocks/>
          </p:cNvSpPr>
          <p:nvPr/>
        </p:nvSpPr>
        <p:spPr>
          <a:xfrm>
            <a:off x="6300000" y="3764650"/>
            <a:ext cx="5400000" cy="240000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500"/>
              </a:spcBef>
              <a:buNone/>
            </a:pPr>
            <a:r>
              <a:rPr lang="es-CO" b="1">
                <a:solidFill>
                  <a:schemeClr val="bg1"/>
                </a:solidFill>
              </a:rPr>
              <a:t>Qué contiene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s-CO">
                <a:solidFill>
                  <a:schemeClr val="bg1"/>
                </a:solidFill>
              </a:rPr>
              <a:t>Tres hojas: el detalle tal como salió de SAP, la lista de activos creados y clasificados, y las evidencias en imágenes del proceso.</a:t>
            </a:r>
          </a:p>
        </p:txBody>
      </p:sp>
    </p:spTree>
    <p:extLst>
      <p:ext uri="{BB962C8B-B14F-4D97-AF65-F5344CB8AC3E}">
        <p14:creationId xmlns:p14="http://schemas.microsoft.com/office/powerpoint/2010/main" val="2619730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BDDD0-4560-6ED3-0BB1-0B3EE4624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007230E2-C3A4-E5CD-B8D8-DF729C099A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6EB29E3-579C-284A-BB93-B47AD62E130B}" type="slidenum">
              <a:rPr lang="es-ES_tradnl" smtClean="0"/>
              <a:pPr/>
              <a:t>14</a:t>
            </a:fld>
            <a:endParaRPr lang="es-ES_tradnl" sz="1000"/>
          </a:p>
        </p:txBody>
      </p:sp>
      <p:pic>
        <p:nvPicPr>
          <p:cNvPr id="6" name="Imagen 5" descr="Una caricatura de una persona  El contenido generado por IA puede ser incorrecto.">
            <a:extLst>
              <a:ext uri="{FF2B5EF4-FFF2-40B4-BE49-F238E27FC236}">
                <a16:creationId xmlns:a16="http://schemas.microsoft.com/office/drawing/2014/main" id="{05E8414B-97B1-D3B1-7671-4AFAAB8B1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34963" y="1043224"/>
            <a:ext cx="12191999" cy="6858000"/>
          </a:xfrm>
          <a:prstGeom prst="rect">
            <a:avLst/>
          </a:prstGeom>
        </p:spPr>
      </p:pic>
      <p:pic>
        <p:nvPicPr>
          <p:cNvPr id="4" name="Imagen 3" descr="Logotipo  El contenido generado por IA puede ser incorrecto.">
            <a:extLst>
              <a:ext uri="{FF2B5EF4-FFF2-40B4-BE49-F238E27FC236}">
                <a16:creationId xmlns:a16="http://schemas.microsoft.com/office/drawing/2014/main" id="{ADA3B400-2E63-AB6A-B1D6-D02BD6A90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4414" y="333378"/>
            <a:ext cx="1053147" cy="610520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CADD0DD5-CBD6-33C9-F773-B53B07DCDDFE}"/>
              </a:ext>
            </a:extLst>
          </p:cNvPr>
          <p:cNvSpPr txBox="1">
            <a:spLocks/>
          </p:cNvSpPr>
          <p:nvPr/>
        </p:nvSpPr>
        <p:spPr>
          <a:xfrm>
            <a:off x="1022906" y="250000"/>
            <a:ext cx="9200000" cy="1050000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es-CO">
                <a:solidFill>
                  <a:srgbClr val="1A3A6C"/>
                </a:solidFill>
                <a:latin typeface="Bariol" panose="02000506040000020003" pitchFamily="50" charset="0"/>
              </a:rPr>
              <a:t>Consejos y solución de problemas</a:t>
            </a:r>
          </a:p>
        </p:txBody>
      </p:sp>
      <p:sp>
        <p:nvSpPr>
          <p:cNvPr id="10" name="Subtítulo 2">
            <a:extLst>
              <a:ext uri="{FF2B5EF4-FFF2-40B4-BE49-F238E27FC236}">
                <a16:creationId xmlns:a16="http://schemas.microsoft.com/office/drawing/2014/main" id="{4CD61A4D-B0ED-70E5-B2B0-CDA5CB277D91}"/>
              </a:ext>
            </a:extLst>
          </p:cNvPr>
          <p:cNvSpPr txBox="1">
            <a:spLocks/>
          </p:cNvSpPr>
          <p:nvPr/>
        </p:nvSpPr>
        <p:spPr>
          <a:xfrm>
            <a:off x="1022906" y="1480000"/>
            <a:ext cx="9000000" cy="4900000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74638" indent="-274638">
              <a:spcBef>
                <a:spcPts val="500"/>
              </a:spcBef>
              <a:buFont typeface="Arial"/>
              <a:buChar char="•"/>
            </a:pPr>
            <a:r>
              <a:rPr lang="es-CO" sz="1600">
                <a:solidFill>
                  <a:schemeClr val="bg1"/>
                </a:solidFill>
              </a:rPr>
              <a:t>Si el botón Creación de Activo está apagado, primero extrae la información en txt.</a:t>
            </a:r>
          </a:p>
          <a:p>
            <a:pPr marL="274638" indent="-274638">
              <a:spcBef>
                <a:spcPts val="500"/>
              </a:spcBef>
              <a:buFont typeface="Arial"/>
              <a:buChar char="•"/>
            </a:pPr>
            <a:r>
              <a:rPr lang="es-CO" sz="1600">
                <a:solidFill>
                  <a:schemeClr val="bg1"/>
                </a:solidFill>
              </a:rPr>
              <a:t>Si aparece que no encuentra SAP, verifica que SAP esté abierto y con tu sesión iniciada.</a:t>
            </a:r>
          </a:p>
          <a:p>
            <a:pPr marL="274638" indent="-274638">
              <a:spcBef>
                <a:spcPts val="500"/>
              </a:spcBef>
              <a:buFont typeface="Arial"/>
              <a:buChar char="•"/>
            </a:pPr>
            <a:r>
              <a:rPr lang="es-CO" sz="1600">
                <a:solidFill>
                  <a:schemeClr val="bg1"/>
                </a:solidFill>
              </a:rPr>
              <a:t>Guarda siempre el Excel antes de extraer la información.</a:t>
            </a:r>
          </a:p>
          <a:p>
            <a:pPr marL="274638" indent="-274638">
              <a:spcBef>
                <a:spcPts val="500"/>
              </a:spcBef>
              <a:buFont typeface="Arial"/>
              <a:buChar char="•"/>
            </a:pPr>
            <a:r>
              <a:rPr lang="es-CO" sz="1600">
                <a:solidFill>
                  <a:schemeClr val="bg1"/>
                </a:solidFill>
              </a:rPr>
              <a:t>No uses el equipo mientras la aplicación trabaja con SAP.</a:t>
            </a:r>
          </a:p>
          <a:p>
            <a:pPr marL="274638" indent="-274638">
              <a:spcBef>
                <a:spcPts val="500"/>
              </a:spcBef>
              <a:buFont typeface="Arial"/>
              <a:buChar char="•"/>
            </a:pPr>
            <a:r>
              <a:rPr lang="es-CO" sz="1600">
                <a:solidFill>
                  <a:schemeClr val="bg1"/>
                </a:solidFill>
              </a:rPr>
              <a:t>Revisa el listado de activos creados para confirmar el resultado.</a:t>
            </a:r>
          </a:p>
        </p:txBody>
      </p:sp>
      <p:sp>
        <p:nvSpPr>
          <p:cNvPr id="12" name="Título 11">
            <a:extLst>
              <a:ext uri="{FF2B5EF4-FFF2-40B4-BE49-F238E27FC236}">
                <a16:creationId xmlns:a16="http://schemas.microsoft.com/office/drawing/2014/main" id="{83E2D80B-D749-946A-725D-4991F6E76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/>
              <a:t>¿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F68C82FE-7ECA-ACC8-8DF3-1C5639984A2D}"/>
              </a:ext>
            </a:extLst>
          </p:cNvPr>
          <p:cNvSpPr txBox="1">
            <a:spLocks/>
          </p:cNvSpPr>
          <p:nvPr/>
        </p:nvSpPr>
        <p:spPr>
          <a:xfrm>
            <a:off x="9033477" y="432704"/>
            <a:ext cx="8905114" cy="2852737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endParaRPr/>
          </a:p>
        </p:txBody>
      </p:sp>
      <p:sp>
        <p:nvSpPr>
          <p:cNvPr id="14" name="Subtítulo 2">
            <a:extLst>
              <a:ext uri="{FF2B5EF4-FFF2-40B4-BE49-F238E27FC236}">
                <a16:creationId xmlns:a16="http://schemas.microsoft.com/office/drawing/2014/main" id="{75646921-4C86-4774-8050-57C2CB8E56C6}"/>
              </a:ext>
            </a:extLst>
          </p:cNvPr>
          <p:cNvSpPr txBox="1">
            <a:spLocks/>
          </p:cNvSpPr>
          <p:nvPr/>
        </p:nvSpPr>
        <p:spPr>
          <a:xfrm>
            <a:off x="1022906" y="3700000"/>
            <a:ext cx="7146172" cy="2200000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2823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816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5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Tema-ISA">
  <a:themeElements>
    <a:clrScheme name="Hi - El Hub de ISA">
      <a:dk1>
        <a:srgbClr val="4C4C4C"/>
      </a:dk1>
      <a:lt1>
        <a:srgbClr val="FFFFFF"/>
      </a:lt1>
      <a:dk2>
        <a:srgbClr val="002F86"/>
      </a:dk2>
      <a:lt2>
        <a:srgbClr val="F2F7FF"/>
      </a:lt2>
      <a:accent1>
        <a:srgbClr val="002F86"/>
      </a:accent1>
      <a:accent2>
        <a:srgbClr val="FF6900"/>
      </a:accent2>
      <a:accent3>
        <a:srgbClr val="0099FF"/>
      </a:accent3>
      <a:accent4>
        <a:srgbClr val="C0C0C0"/>
      </a:accent4>
      <a:accent5>
        <a:srgbClr val="FFC399"/>
      </a:accent5>
      <a:accent6>
        <a:srgbClr val="99D6FF"/>
      </a:accent6>
      <a:hlink>
        <a:srgbClr val="FF6900"/>
      </a:hlink>
      <a:folHlink>
        <a:srgbClr val="0099FF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C37FE033-7100-6A47-BF04-6577411ED484}" vid="{141B92B7-FCE2-9149-AA33-D8D36DF4AD8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11117af-2ff5-43c3-80ba-e257cd6892d3" xsi:nil="true"/>
    <lcf76f155ced4ddcb4097134ff3c332f xmlns="70133179-21cc-423d-b28f-7c99bea0c6de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F281D2A0C797E469927A035E6C5D5ED" ma:contentTypeVersion="11" ma:contentTypeDescription="Crear nuevo documento." ma:contentTypeScope="" ma:versionID="5e9392cfd17e969048d27e3af2b177cd">
  <xsd:schema xmlns:xsd="http://www.w3.org/2001/XMLSchema" xmlns:xs="http://www.w3.org/2001/XMLSchema" xmlns:p="http://schemas.microsoft.com/office/2006/metadata/properties" xmlns:ns2="70133179-21cc-423d-b28f-7c99bea0c6de" xmlns:ns3="911117af-2ff5-43c3-80ba-e257cd6892d3" targetNamespace="http://schemas.microsoft.com/office/2006/metadata/properties" ma:root="true" ma:fieldsID="f2c37b903ba9f93506a6a0de95430801" ns2:_="" ns3:_="">
    <xsd:import namespace="70133179-21cc-423d-b28f-7c99bea0c6de"/>
    <xsd:import namespace="911117af-2ff5-43c3-80ba-e257cd6892d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0133179-21cc-423d-b28f-7c99bea0c6d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74ade5ec-1dc6-4b12-84e9-18d8060fcf9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117af-2ff5-43c3-80ba-e257cd6892d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3149584-78df-4a10-999f-5e9fc3b3efa8}" ma:internalName="TaxCatchAll" ma:showField="CatchAllData" ma:web="911117af-2ff5-43c3-80ba-e257cd6892d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E307EF8-3B7F-4C93-B652-5345B6EF0DCA}">
  <ds:schemaRefs>
    <ds:schemaRef ds:uri="70133179-21cc-423d-b28f-7c99bea0c6de"/>
    <ds:schemaRef ds:uri="911117af-2ff5-43c3-80ba-e257cd6892d3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FE7D374C-C355-4214-BDC3-A4459599B31F}">
  <ds:schemaRefs>
    <ds:schemaRef ds:uri="70133179-21cc-423d-b28f-7c99bea0c6de"/>
    <ds:schemaRef ds:uri="911117af-2ff5-43c3-80ba-e257cd6892d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DD5BF9A-35CF-4BCC-B408-A8D33CE09FB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37cf70c-1091-499f-b577-72ba042c00d1}" enabled="1" method="Standard" siteId="{c980e410-0b5c-48bc-bd1a-8b91cabc84bc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Hi-Plantilla-PPT</Template>
  <TotalTime>211</TotalTime>
  <Words>761</Words>
  <Application>Microsoft Office PowerPoint</Application>
  <PresentationFormat>Panorámica</PresentationFormat>
  <Paragraphs>84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1" baseType="lpstr">
      <vt:lpstr>Aptos</vt:lpstr>
      <vt:lpstr>Arial</vt:lpstr>
      <vt:lpstr>Bariol</vt:lpstr>
      <vt:lpstr>Calibri</vt:lpstr>
      <vt:lpstr>Calibri Light</vt:lpstr>
      <vt:lpstr>Tema-ISA</vt:lpstr>
      <vt:lpstr>Presentación de PowerPoint</vt:lpstr>
      <vt:lpstr>¿Qué es esta aplicación?</vt:lpstr>
      <vt:lpstr>¿Qué puedes hacer con ella?</vt:lpstr>
      <vt:lpstr>Antes de empezar</vt:lpstr>
      <vt:lpstr>El flujo del proceso Del formulario en Excel al activo creado en SAP.</vt:lpstr>
      <vt:lpstr>Activos Fijos</vt:lpstr>
      <vt:lpstr>Paso 1 · Extraer la información</vt:lpstr>
      <vt:lpstr>Paso 2 · Crear el activo en SAP</vt:lpstr>
      <vt:lpstr>Paso 3 · Consultar los activos creados</vt:lpstr>
      <vt:lpstr>Paso 4 · Subir los anexos</vt:lpstr>
      <vt:lpstr>Control SOX</vt:lpstr>
      <vt:lpstr>Generar el Reporte SOX</vt:lpstr>
      <vt:lpstr>Presentación de PowerPoint</vt:lpstr>
      <vt:lpstr>¿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SANDRA MILENA HERNÁNDEZ HERRERA</dc:creator>
  <cp:lastModifiedBy>HI_E JENNY CATALINA CULMA VELOZA</cp:lastModifiedBy>
  <cp:revision>2</cp:revision>
  <dcterms:created xsi:type="dcterms:W3CDTF">2025-12-17T16:11:08Z</dcterms:created>
  <dcterms:modified xsi:type="dcterms:W3CDTF">2026-06-18T20:12:44Z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0x0101002F281D2A0C797E469927A035E6C5D5ED</vt:lpwstr>
  </property>
  <property fmtid="{D5CDD505-2E9C-101B-9397-08002B2CF9AE}" pid="3" name="MediaServiceImageTags">
    <vt:lpwstr/>
  </property>
  <property fmtid="{D5CDD505-2E9C-101B-9397-08002B2CF9AE}" pid="4" name="ClassificationContentMarkingFooterLocations">
    <vt:lpwstr>Tema-ISA:7</vt:lpwstr>
  </property>
  <property fmtid="{D5CDD505-2E9C-101B-9397-08002B2CF9AE}" pid="5" name="ClassificationContentMarkingFooterText">
    <vt:lpwstr>Información Interna</vt:lpwstr>
  </property>
</Properties>
</file>